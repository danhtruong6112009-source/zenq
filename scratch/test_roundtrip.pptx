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g" ContentType="image/jpe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Id1"/>
  </p:sld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 id="272" r:id="rIdSlide17"/>
    <p:sldId id="273" r:id="rIdSlide18"/>
    <p:sldId id="274" r:id="rIdSlide19"/>
    <p:sldId id="275" r:id="rIdSlide20"/>
    <p:sldId id="276" r:id="rIdSlide21"/>
    <p:sldId id="277" r:id="rIdSlide22"/>
    <p:sldId id="278" r:id="rIdSlide23"/>
    <p:sldId id="279" r:id="rIdSlide24"/>
    <p:sldId id="280" r:id="rIdSlide25"/>
    <p:sldId id="281" r:id="rIdSlide26"/>
    <p:sldId id="282" r:id="rIdSlide27"/>
    <p:sldId id="283" r:id="rIdSlide28"/>
    <p:sldId id="284" r:id="rIdSlide29"/>
    <p:sldId id="285" r:id="rIdSlide30"/>
    <p:sldId id="286" r:id="rIdSlide31"/>
  </p:sldIdLst>
  <p:sldSz cx="18288000" cy="10287000" type="screen16x9"/>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8" d="100"/>
          <a:sy n="38" d="100"/>
        </p:scale>
        <p:origin x="105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PresProps" Type="http://schemas.openxmlformats.org/officeDocument/2006/relationships/presProps" Target="presProps.xml"/>
  <Relationship Id="rIdViewProps" Type="http://schemas.openxmlformats.org/officeDocument/2006/relationships/viewProps" Target="viewProps.xml"/>
  <Relationship Id="rIdTheme" Type="http://schemas.openxmlformats.org/officeDocument/2006/relationships/theme" Target="theme/theme1.xml"/>
  <Relationship Id="rIdTableStyles" Type="http://schemas.openxmlformats.org/officeDocument/2006/relationships/tableStyles" Target="tableStyles.xml"/>
  <Relationship Id="rIdSlide1" Type="http://schemas.openxmlformats.org/officeDocument/2006/relationships/slide" Target="slides/slide1.xml"/>
  <Relationship Id="rIdSlide2" Type="http://schemas.openxmlformats.org/officeDocument/2006/relationships/slide" Target="slides/slide2.xml"/>
  <Relationship Id="rIdSlide3" Type="http://schemas.openxmlformats.org/officeDocument/2006/relationships/slide" Target="slides/slide3.xml"/>
  <Relationship Id="rIdSlide4" Type="http://schemas.openxmlformats.org/officeDocument/2006/relationships/slide" Target="slides/slide4.xml"/>
  <Relationship Id="rIdSlide5" Type="http://schemas.openxmlformats.org/officeDocument/2006/relationships/slide" Target="slides/slide5.xml"/>
  <Relationship Id="rIdSlide6" Type="http://schemas.openxmlformats.org/officeDocument/2006/relationships/slide" Target="slides/slide6.xml"/>
  <Relationship Id="rIdSlide7" Type="http://schemas.openxmlformats.org/officeDocument/2006/relationships/slide" Target="slides/slide7.xml"/>
  <Relationship Id="rIdSlide8" Type="http://schemas.openxmlformats.org/officeDocument/2006/relationships/slide" Target="slides/slide8.xml"/>
  <Relationship Id="rIdSlide9" Type="http://schemas.openxmlformats.org/officeDocument/2006/relationships/slide" Target="slides/slide9.xml"/>
  <Relationship Id="rIdSlide10" Type="http://schemas.openxmlformats.org/officeDocument/2006/relationships/slide" Target="slides/slide10.xml"/>
  <Relationship Id="rIdSlide11" Type="http://schemas.openxmlformats.org/officeDocument/2006/relationships/slide" Target="slides/slide11.xml"/>
  <Relationship Id="rIdSlide12" Type="http://schemas.openxmlformats.org/officeDocument/2006/relationships/slide" Target="slides/slide12.xml"/>
  <Relationship Id="rIdSlide13" Type="http://schemas.openxmlformats.org/officeDocument/2006/relationships/slide" Target="slides/slide13.xml"/>
  <Relationship Id="rIdSlide14" Type="http://schemas.openxmlformats.org/officeDocument/2006/relationships/slide" Target="slides/slide14.xml"/>
  <Relationship Id="rIdSlide15" Type="http://schemas.openxmlformats.org/officeDocument/2006/relationships/slide" Target="slides/slide15.xml"/>
  <Relationship Id="rIdSlide16" Type="http://schemas.openxmlformats.org/officeDocument/2006/relationships/slide" Target="slides/slide16.xml"/>
  <Relationship Id="rIdSlide17" Type="http://schemas.openxmlformats.org/officeDocument/2006/relationships/slide" Target="slides/slide17.xml"/>
  <Relationship Id="rIdSlide18" Type="http://schemas.openxmlformats.org/officeDocument/2006/relationships/slide" Target="slides/slide18.xml"/>
  <Relationship Id="rIdSlide19" Type="http://schemas.openxmlformats.org/officeDocument/2006/relationships/slide" Target="slides/slide19.xml"/>
  <Relationship Id="rIdSlide20" Type="http://schemas.openxmlformats.org/officeDocument/2006/relationships/slide" Target="slides/slide20.xml"/>
  <Relationship Id="rIdSlide21" Type="http://schemas.openxmlformats.org/officeDocument/2006/relationships/slide" Target="slides/slide21.xml"/>
  <Relationship Id="rIdSlide22" Type="http://schemas.openxmlformats.org/officeDocument/2006/relationships/slide" Target="slides/slide22.xml"/>
  <Relationship Id="rIdSlide23" Type="http://schemas.openxmlformats.org/officeDocument/2006/relationships/slide" Target="slides/slide23.xml"/>
  <Relationship Id="rIdSlide24" Type="http://schemas.openxmlformats.org/officeDocument/2006/relationships/slide" Target="slides/slide24.xml"/>
  <Relationship Id="rIdSlide25" Type="http://schemas.openxmlformats.org/officeDocument/2006/relationships/slide" Target="slides/slide25.xml"/>
  <Relationship Id="rIdSlide26" Type="http://schemas.openxmlformats.org/officeDocument/2006/relationships/slide" Target="slides/slide26.xml"/>
  <Relationship Id="rIdSlide27" Type="http://schemas.openxmlformats.org/officeDocument/2006/relationships/slide" Target="slides/slide27.xml"/>
  <Relationship Id="rIdSlide28" Type="http://schemas.openxmlformats.org/officeDocument/2006/relationships/slide" Target="slides/slide28.xml"/>
  <Relationship Id="rIdSlide29" Type="http://schemas.openxmlformats.org/officeDocument/2006/relationships/slide" Target="slides/slide29.xml"/>
  <Relationship Id="rIdSlide30" Type="http://schemas.openxmlformats.org/officeDocument/2006/relationships/slide" Target="slides/slide30.xml"/>
  <Relationship Id="rIdSlide31" Type="http://schemas.openxmlformats.org/officeDocument/2006/relationships/slide" Target="slides/slide3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93C3F-A15E-4DAF-8515-4C510A3195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CC43D03-C3EC-4FA0-A5F2-4B90FC2C42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14CCBB2-6653-4D3E-97BE-DE43DB1CD984}"/>
              </a:ext>
            </a:extLst>
          </p:cNvPr>
          <p:cNvSpPr>
            <a:spLocks noGrp="1"/>
          </p:cNvSpPr>
          <p:nvPr>
            <p:ph type="dt" sz="half" idx="10"/>
          </p:nvPr>
        </p:nvSpPr>
        <p:spPr/>
        <p:txBody>
          <a:bodyPr/>
          <a:lstStyle/>
          <a:p>
            <a:fld id="{AF299649-94B9-41F6-9C94-7C4C278B73E4}" type="datetimeFigureOut">
              <a:rPr lang="en-US" smtClean="0"/>
              <a:t>8/27/2026</a:t>
            </a:fld>
            <a:endParaRPr lang="en-US"/>
          </a:p>
        </p:txBody>
      </p:sp>
      <p:sp>
        <p:nvSpPr>
          <p:cNvPr id="5" name="Footer Placeholder 4">
            <a:extLst>
              <a:ext uri="{FF2B5EF4-FFF2-40B4-BE49-F238E27FC236}">
                <a16:creationId xmlns:a16="http://schemas.microsoft.com/office/drawing/2014/main" id="{4D7155BC-CBA6-4283-8E83-1E27D243AA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AF91E5-1CE6-4B5C-B2B8-4FE41877DF54}"/>
              </a:ext>
            </a:extLst>
          </p:cNvPr>
          <p:cNvSpPr>
            <a:spLocks noGrp="1"/>
          </p:cNvSpPr>
          <p:nvPr>
            <p:ph type="sldNum" sz="quarter" idx="12"/>
          </p:nvPr>
        </p:nvSpPr>
        <p:spPr/>
        <p:txBody>
          <a:bodyPr/>
          <a:lstStyle/>
          <a:p>
            <a:fld id="{4AE6495D-3EE1-4F7B-9EA7-EA1C695C2F5C}" type="slidenum">
              <a:rPr lang="en-US" smtClean="0"/>
              <a:t>‹#›</a:t>
            </a:fld>
            <a:endParaRPr lang="en-US"/>
          </a:p>
        </p:txBody>
      </p:sp>
    </p:spTree>
    <p:extLst>
      <p:ext uri="{BB962C8B-B14F-4D97-AF65-F5344CB8AC3E}">
        <p14:creationId xmlns:p14="http://schemas.microsoft.com/office/powerpoint/2010/main" val="890750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65DA1-0713-4649-8F26-8059118121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E2C814-FCE0-4C8E-9548-302CEFB3286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D96266-36D9-4994-914B-7407D22CDE2D}"/>
              </a:ext>
            </a:extLst>
          </p:cNvPr>
          <p:cNvSpPr>
            <a:spLocks noGrp="1"/>
          </p:cNvSpPr>
          <p:nvPr>
            <p:ph type="dt" sz="half" idx="10"/>
          </p:nvPr>
        </p:nvSpPr>
        <p:spPr/>
        <p:txBody>
          <a:bodyPr/>
          <a:lstStyle/>
          <a:p>
            <a:fld id="{AF299649-94B9-41F6-9C94-7C4C278B73E4}" type="datetimeFigureOut">
              <a:rPr lang="en-US" smtClean="0"/>
              <a:t>8/27/2026</a:t>
            </a:fld>
            <a:endParaRPr lang="en-US"/>
          </a:p>
        </p:txBody>
      </p:sp>
      <p:sp>
        <p:nvSpPr>
          <p:cNvPr id="5" name="Footer Placeholder 4">
            <a:extLst>
              <a:ext uri="{FF2B5EF4-FFF2-40B4-BE49-F238E27FC236}">
                <a16:creationId xmlns:a16="http://schemas.microsoft.com/office/drawing/2014/main" id="{06B7F1C1-1A0A-4BF5-93BD-E3FDEAEFEC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035F8C-5492-44BE-BB77-45404AED1530}"/>
              </a:ext>
            </a:extLst>
          </p:cNvPr>
          <p:cNvSpPr>
            <a:spLocks noGrp="1"/>
          </p:cNvSpPr>
          <p:nvPr>
            <p:ph type="sldNum" sz="quarter" idx="12"/>
          </p:nvPr>
        </p:nvSpPr>
        <p:spPr/>
        <p:txBody>
          <a:bodyPr/>
          <a:lstStyle/>
          <a:p>
            <a:fld id="{4AE6495D-3EE1-4F7B-9EA7-EA1C695C2F5C}" type="slidenum">
              <a:rPr lang="en-US" smtClean="0"/>
              <a:t>‹#›</a:t>
            </a:fld>
            <a:endParaRPr lang="en-US"/>
          </a:p>
        </p:txBody>
      </p:sp>
    </p:spTree>
    <p:extLst>
      <p:ext uri="{BB962C8B-B14F-4D97-AF65-F5344CB8AC3E}">
        <p14:creationId xmlns:p14="http://schemas.microsoft.com/office/powerpoint/2010/main" val="3976436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39B4D-6C72-4B9C-A2EC-E837CFAF77F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A33C830-2014-4BB8-8020-55D06DE33D9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E2A5A5-0F2A-40D1-A5E0-F932E4C1759C}"/>
              </a:ext>
            </a:extLst>
          </p:cNvPr>
          <p:cNvSpPr>
            <a:spLocks noGrp="1"/>
          </p:cNvSpPr>
          <p:nvPr>
            <p:ph type="dt" sz="half" idx="10"/>
          </p:nvPr>
        </p:nvSpPr>
        <p:spPr/>
        <p:txBody>
          <a:bodyPr/>
          <a:lstStyle/>
          <a:p>
            <a:fld id="{AF299649-94B9-41F6-9C94-7C4C278B73E4}" type="datetimeFigureOut">
              <a:rPr lang="en-US" smtClean="0"/>
              <a:t>8/27/2026</a:t>
            </a:fld>
            <a:endParaRPr lang="en-US"/>
          </a:p>
        </p:txBody>
      </p:sp>
      <p:sp>
        <p:nvSpPr>
          <p:cNvPr id="5" name="Footer Placeholder 4">
            <a:extLst>
              <a:ext uri="{FF2B5EF4-FFF2-40B4-BE49-F238E27FC236}">
                <a16:creationId xmlns:a16="http://schemas.microsoft.com/office/drawing/2014/main" id="{40A56447-3C9F-4B97-881D-B892E07447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622F3B-4886-429F-B2A7-00C0851F7CE7}"/>
              </a:ext>
            </a:extLst>
          </p:cNvPr>
          <p:cNvSpPr>
            <a:spLocks noGrp="1"/>
          </p:cNvSpPr>
          <p:nvPr>
            <p:ph type="sldNum" sz="quarter" idx="12"/>
          </p:nvPr>
        </p:nvSpPr>
        <p:spPr/>
        <p:txBody>
          <a:bodyPr/>
          <a:lstStyle/>
          <a:p>
            <a:fld id="{4AE6495D-3EE1-4F7B-9EA7-EA1C695C2F5C}" type="slidenum">
              <a:rPr lang="en-US" smtClean="0"/>
              <a:t>‹#›</a:t>
            </a:fld>
            <a:endParaRPr lang="en-US"/>
          </a:p>
        </p:txBody>
      </p:sp>
    </p:spTree>
    <p:extLst>
      <p:ext uri="{BB962C8B-B14F-4D97-AF65-F5344CB8AC3E}">
        <p14:creationId xmlns:p14="http://schemas.microsoft.com/office/powerpoint/2010/main" val="5830309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283FF-4857-496D-869C-9CC7957AD2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FF68E3-9D43-4E89-8231-257A52F962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ECD3589-E182-439B-AA42-240FB701D3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A7025E-6253-4531-9CD8-DF5E746C533C}"/>
              </a:ext>
            </a:extLst>
          </p:cNvPr>
          <p:cNvSpPr>
            <a:spLocks noGrp="1"/>
          </p:cNvSpPr>
          <p:nvPr>
            <p:ph type="dt" sz="half" idx="10"/>
          </p:nvPr>
        </p:nvSpPr>
        <p:spPr/>
        <p:txBody>
          <a:bodyPr/>
          <a:lstStyle/>
          <a:p>
            <a:fld id="{AF299649-94B9-41F6-9C94-7C4C278B73E4}" type="datetimeFigureOut">
              <a:rPr lang="en-US" smtClean="0"/>
              <a:t>8/27/2026</a:t>
            </a:fld>
            <a:endParaRPr lang="en-US"/>
          </a:p>
        </p:txBody>
      </p:sp>
      <p:sp>
        <p:nvSpPr>
          <p:cNvPr id="6" name="Footer Placeholder 5">
            <a:extLst>
              <a:ext uri="{FF2B5EF4-FFF2-40B4-BE49-F238E27FC236}">
                <a16:creationId xmlns:a16="http://schemas.microsoft.com/office/drawing/2014/main" id="{5BD64F5A-04FA-4C8F-8064-6F21655633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DFBECF-285F-4ADE-AADC-922FA5F8860B}"/>
              </a:ext>
            </a:extLst>
          </p:cNvPr>
          <p:cNvSpPr>
            <a:spLocks noGrp="1"/>
          </p:cNvSpPr>
          <p:nvPr>
            <p:ph type="sldNum" sz="quarter" idx="12"/>
          </p:nvPr>
        </p:nvSpPr>
        <p:spPr/>
        <p:txBody>
          <a:bodyPr/>
          <a:lstStyle/>
          <a:p>
            <a:fld id="{4AE6495D-3EE1-4F7B-9EA7-EA1C695C2F5C}" type="slidenum">
              <a:rPr lang="en-US" smtClean="0"/>
              <a:t>‹#›</a:t>
            </a:fld>
            <a:endParaRPr lang="en-US"/>
          </a:p>
        </p:txBody>
      </p:sp>
    </p:spTree>
    <p:extLst>
      <p:ext uri="{BB962C8B-B14F-4D97-AF65-F5344CB8AC3E}">
        <p14:creationId xmlns:p14="http://schemas.microsoft.com/office/powerpoint/2010/main" val="38610676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544C2-A669-415E-A31E-3314541C202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1ECC7B3-2842-476C-95AE-31C78BE652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6505A4-7FE3-4519-BFB3-164525808D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95BBBE4-3B51-4E33-B385-8FDAA11AD4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99BB09-D7FA-4C96-957D-802AB5F333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92F78E-83EA-418B-856D-5A003C467183}"/>
              </a:ext>
            </a:extLst>
          </p:cNvPr>
          <p:cNvSpPr>
            <a:spLocks noGrp="1"/>
          </p:cNvSpPr>
          <p:nvPr>
            <p:ph type="dt" sz="half" idx="10"/>
          </p:nvPr>
        </p:nvSpPr>
        <p:spPr/>
        <p:txBody>
          <a:bodyPr/>
          <a:lstStyle/>
          <a:p>
            <a:fld id="{AF299649-94B9-41F6-9C94-7C4C278B73E4}" type="datetimeFigureOut">
              <a:rPr lang="en-US" smtClean="0"/>
              <a:t>8/27/2026</a:t>
            </a:fld>
            <a:endParaRPr lang="en-US"/>
          </a:p>
        </p:txBody>
      </p:sp>
      <p:sp>
        <p:nvSpPr>
          <p:cNvPr id="8" name="Footer Placeholder 7">
            <a:extLst>
              <a:ext uri="{FF2B5EF4-FFF2-40B4-BE49-F238E27FC236}">
                <a16:creationId xmlns:a16="http://schemas.microsoft.com/office/drawing/2014/main" id="{55A8DE3A-9E5E-44C1-8E1A-69EBB64CDA0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6330C26-59BA-454F-96B2-9878B8115E69}"/>
              </a:ext>
            </a:extLst>
          </p:cNvPr>
          <p:cNvSpPr>
            <a:spLocks noGrp="1"/>
          </p:cNvSpPr>
          <p:nvPr>
            <p:ph type="sldNum" sz="quarter" idx="12"/>
          </p:nvPr>
        </p:nvSpPr>
        <p:spPr/>
        <p:txBody>
          <a:bodyPr/>
          <a:lstStyle/>
          <a:p>
            <a:fld id="{4AE6495D-3EE1-4F7B-9EA7-EA1C695C2F5C}" type="slidenum">
              <a:rPr lang="en-US" smtClean="0"/>
              <a:t>‹#›</a:t>
            </a:fld>
            <a:endParaRPr lang="en-US"/>
          </a:p>
        </p:txBody>
      </p:sp>
    </p:spTree>
    <p:extLst>
      <p:ext uri="{BB962C8B-B14F-4D97-AF65-F5344CB8AC3E}">
        <p14:creationId xmlns:p14="http://schemas.microsoft.com/office/powerpoint/2010/main" val="1161788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34FB9-63F5-4070-853E-26E11B32948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5E0B131-9C08-4DD4-9411-1CADABD5BB9F}"/>
              </a:ext>
            </a:extLst>
          </p:cNvPr>
          <p:cNvSpPr>
            <a:spLocks noGrp="1"/>
          </p:cNvSpPr>
          <p:nvPr>
            <p:ph type="dt" sz="half" idx="10"/>
          </p:nvPr>
        </p:nvSpPr>
        <p:spPr/>
        <p:txBody>
          <a:bodyPr/>
          <a:lstStyle/>
          <a:p>
            <a:fld id="{AF299649-94B9-41F6-9C94-7C4C278B73E4}" type="datetimeFigureOut">
              <a:rPr lang="en-US" smtClean="0"/>
              <a:t>8/27/2026</a:t>
            </a:fld>
            <a:endParaRPr lang="en-US"/>
          </a:p>
        </p:txBody>
      </p:sp>
      <p:sp>
        <p:nvSpPr>
          <p:cNvPr id="4" name="Footer Placeholder 3">
            <a:extLst>
              <a:ext uri="{FF2B5EF4-FFF2-40B4-BE49-F238E27FC236}">
                <a16:creationId xmlns:a16="http://schemas.microsoft.com/office/drawing/2014/main" id="{4BCCF936-FD21-4F1A-8098-C367FE133F5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46391BD-1C48-4039-83F4-CF0891C021C8}"/>
              </a:ext>
            </a:extLst>
          </p:cNvPr>
          <p:cNvSpPr>
            <a:spLocks noGrp="1"/>
          </p:cNvSpPr>
          <p:nvPr>
            <p:ph type="sldNum" sz="quarter" idx="12"/>
          </p:nvPr>
        </p:nvSpPr>
        <p:spPr/>
        <p:txBody>
          <a:bodyPr/>
          <a:lstStyle/>
          <a:p>
            <a:fld id="{4AE6495D-3EE1-4F7B-9EA7-EA1C695C2F5C}" type="slidenum">
              <a:rPr lang="en-US" smtClean="0"/>
              <a:t>‹#›</a:t>
            </a:fld>
            <a:endParaRPr lang="en-US"/>
          </a:p>
        </p:txBody>
      </p:sp>
    </p:spTree>
    <p:extLst>
      <p:ext uri="{BB962C8B-B14F-4D97-AF65-F5344CB8AC3E}">
        <p14:creationId xmlns:p14="http://schemas.microsoft.com/office/powerpoint/2010/main" val="34862045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FD7358-B6EA-4134-B4CE-FB078EBDC403}"/>
              </a:ext>
            </a:extLst>
          </p:cNvPr>
          <p:cNvSpPr>
            <a:spLocks noGrp="1"/>
          </p:cNvSpPr>
          <p:nvPr>
            <p:ph type="dt" sz="half" idx="10"/>
          </p:nvPr>
        </p:nvSpPr>
        <p:spPr/>
        <p:txBody>
          <a:bodyPr/>
          <a:lstStyle/>
          <a:p>
            <a:fld id="{AF299649-94B9-41F6-9C94-7C4C278B73E4}" type="datetimeFigureOut">
              <a:rPr lang="en-US" smtClean="0"/>
              <a:t>8/27/2026</a:t>
            </a:fld>
            <a:endParaRPr lang="en-US"/>
          </a:p>
        </p:txBody>
      </p:sp>
      <p:sp>
        <p:nvSpPr>
          <p:cNvPr id="3" name="Footer Placeholder 2">
            <a:extLst>
              <a:ext uri="{FF2B5EF4-FFF2-40B4-BE49-F238E27FC236}">
                <a16:creationId xmlns:a16="http://schemas.microsoft.com/office/drawing/2014/main" id="{AE8AF6CA-C3FB-4709-AD88-C87FE0167A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C22487B-EC39-46C9-A42A-3E37C5CEDCD5}"/>
              </a:ext>
            </a:extLst>
          </p:cNvPr>
          <p:cNvSpPr>
            <a:spLocks noGrp="1"/>
          </p:cNvSpPr>
          <p:nvPr>
            <p:ph type="sldNum" sz="quarter" idx="12"/>
          </p:nvPr>
        </p:nvSpPr>
        <p:spPr/>
        <p:txBody>
          <a:bodyPr/>
          <a:lstStyle/>
          <a:p>
            <a:fld id="{4AE6495D-3EE1-4F7B-9EA7-EA1C695C2F5C}" type="slidenum">
              <a:rPr lang="en-US" smtClean="0"/>
              <a:t>‹#›</a:t>
            </a:fld>
            <a:endParaRPr lang="en-US"/>
          </a:p>
        </p:txBody>
      </p:sp>
    </p:spTree>
    <p:extLst>
      <p:ext uri="{BB962C8B-B14F-4D97-AF65-F5344CB8AC3E}">
        <p14:creationId xmlns:p14="http://schemas.microsoft.com/office/powerpoint/2010/main" val="593164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643A0-313D-40CA-AF7D-7737EB7DD7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E7E68C2-1088-4D8F-9B9D-3BF45FA81B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E270104-4550-47F6-BA21-8585FA60AB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553875-A827-47EC-A10A-93900B583F67}"/>
              </a:ext>
            </a:extLst>
          </p:cNvPr>
          <p:cNvSpPr>
            <a:spLocks noGrp="1"/>
          </p:cNvSpPr>
          <p:nvPr>
            <p:ph type="dt" sz="half" idx="10"/>
          </p:nvPr>
        </p:nvSpPr>
        <p:spPr/>
        <p:txBody>
          <a:bodyPr/>
          <a:lstStyle/>
          <a:p>
            <a:fld id="{AF299649-94B9-41F6-9C94-7C4C278B73E4}" type="datetimeFigureOut">
              <a:rPr lang="en-US" smtClean="0"/>
              <a:t>8/27/2026</a:t>
            </a:fld>
            <a:endParaRPr lang="en-US"/>
          </a:p>
        </p:txBody>
      </p:sp>
      <p:sp>
        <p:nvSpPr>
          <p:cNvPr id="6" name="Footer Placeholder 5">
            <a:extLst>
              <a:ext uri="{FF2B5EF4-FFF2-40B4-BE49-F238E27FC236}">
                <a16:creationId xmlns:a16="http://schemas.microsoft.com/office/drawing/2014/main" id="{A4528AA6-DB1D-4B3A-8B57-C82871C7B5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3FA652-4FF1-4D1F-B207-98625A3F0571}"/>
              </a:ext>
            </a:extLst>
          </p:cNvPr>
          <p:cNvSpPr>
            <a:spLocks noGrp="1"/>
          </p:cNvSpPr>
          <p:nvPr>
            <p:ph type="sldNum" sz="quarter" idx="12"/>
          </p:nvPr>
        </p:nvSpPr>
        <p:spPr/>
        <p:txBody>
          <a:bodyPr/>
          <a:lstStyle/>
          <a:p>
            <a:fld id="{4AE6495D-3EE1-4F7B-9EA7-EA1C695C2F5C}" type="slidenum">
              <a:rPr lang="en-US" smtClean="0"/>
              <a:t>‹#›</a:t>
            </a:fld>
            <a:endParaRPr lang="en-US"/>
          </a:p>
        </p:txBody>
      </p:sp>
    </p:spTree>
    <p:extLst>
      <p:ext uri="{BB962C8B-B14F-4D97-AF65-F5344CB8AC3E}">
        <p14:creationId xmlns:p14="http://schemas.microsoft.com/office/powerpoint/2010/main" val="22455618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B907B-F215-48F9-8285-E8A278AEA5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C843C23-3C08-42BD-9845-BD908F7487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D57BFC-233A-462A-B7CB-15B3047C71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47609B-49EB-4086-A613-30EA3BB67FDE}"/>
              </a:ext>
            </a:extLst>
          </p:cNvPr>
          <p:cNvSpPr>
            <a:spLocks noGrp="1"/>
          </p:cNvSpPr>
          <p:nvPr>
            <p:ph type="dt" sz="half" idx="10"/>
          </p:nvPr>
        </p:nvSpPr>
        <p:spPr/>
        <p:txBody>
          <a:bodyPr/>
          <a:lstStyle/>
          <a:p>
            <a:fld id="{AF299649-94B9-41F6-9C94-7C4C278B73E4}" type="datetimeFigureOut">
              <a:rPr lang="en-US" smtClean="0"/>
              <a:t>8/27/2026</a:t>
            </a:fld>
            <a:endParaRPr lang="en-US"/>
          </a:p>
        </p:txBody>
      </p:sp>
      <p:sp>
        <p:nvSpPr>
          <p:cNvPr id="6" name="Footer Placeholder 5">
            <a:extLst>
              <a:ext uri="{FF2B5EF4-FFF2-40B4-BE49-F238E27FC236}">
                <a16:creationId xmlns:a16="http://schemas.microsoft.com/office/drawing/2014/main" id="{C835C126-9E72-4EE0-9B5E-CA6BF3870C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38FBBD-931A-4D80-AC4A-1335EAD653A8}"/>
              </a:ext>
            </a:extLst>
          </p:cNvPr>
          <p:cNvSpPr>
            <a:spLocks noGrp="1"/>
          </p:cNvSpPr>
          <p:nvPr>
            <p:ph type="sldNum" sz="quarter" idx="12"/>
          </p:nvPr>
        </p:nvSpPr>
        <p:spPr/>
        <p:txBody>
          <a:bodyPr/>
          <a:lstStyle/>
          <a:p>
            <a:fld id="{4AE6495D-3EE1-4F7B-9EA7-EA1C695C2F5C}" type="slidenum">
              <a:rPr lang="en-US" smtClean="0"/>
              <a:t>‹#›</a:t>
            </a:fld>
            <a:endParaRPr lang="en-US"/>
          </a:p>
        </p:txBody>
      </p:sp>
    </p:spTree>
    <p:extLst>
      <p:ext uri="{BB962C8B-B14F-4D97-AF65-F5344CB8AC3E}">
        <p14:creationId xmlns:p14="http://schemas.microsoft.com/office/powerpoint/2010/main" val="2185779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85A20-D6F3-44ED-BDF5-AABDDDAAB39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66E165B-B82B-4EDD-B8F6-4B15A106BF2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26D1E2-2E1E-45A7-B709-DC9CE14093D0}"/>
              </a:ext>
            </a:extLst>
          </p:cNvPr>
          <p:cNvSpPr>
            <a:spLocks noGrp="1"/>
          </p:cNvSpPr>
          <p:nvPr>
            <p:ph type="dt" sz="half" idx="10"/>
          </p:nvPr>
        </p:nvSpPr>
        <p:spPr/>
        <p:txBody>
          <a:bodyPr/>
          <a:lstStyle/>
          <a:p>
            <a:fld id="{AF299649-94B9-41F6-9C94-7C4C278B73E4}" type="datetimeFigureOut">
              <a:rPr lang="en-US" smtClean="0"/>
              <a:t>8/27/2026</a:t>
            </a:fld>
            <a:endParaRPr lang="en-US"/>
          </a:p>
        </p:txBody>
      </p:sp>
      <p:sp>
        <p:nvSpPr>
          <p:cNvPr id="5" name="Footer Placeholder 4">
            <a:extLst>
              <a:ext uri="{FF2B5EF4-FFF2-40B4-BE49-F238E27FC236}">
                <a16:creationId xmlns:a16="http://schemas.microsoft.com/office/drawing/2014/main" id="{59DA758E-DF1A-40AD-B480-2ED7569AAA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93997D-3C77-4820-835C-6A75390C67C2}"/>
              </a:ext>
            </a:extLst>
          </p:cNvPr>
          <p:cNvSpPr>
            <a:spLocks noGrp="1"/>
          </p:cNvSpPr>
          <p:nvPr>
            <p:ph type="sldNum" sz="quarter" idx="12"/>
          </p:nvPr>
        </p:nvSpPr>
        <p:spPr/>
        <p:txBody>
          <a:bodyPr/>
          <a:lstStyle/>
          <a:p>
            <a:fld id="{4AE6495D-3EE1-4F7B-9EA7-EA1C695C2F5C}" type="slidenum">
              <a:rPr lang="en-US" smtClean="0"/>
              <a:t>‹#›</a:t>
            </a:fld>
            <a:endParaRPr lang="en-US"/>
          </a:p>
        </p:txBody>
      </p:sp>
    </p:spTree>
    <p:extLst>
      <p:ext uri="{BB962C8B-B14F-4D97-AF65-F5344CB8AC3E}">
        <p14:creationId xmlns:p14="http://schemas.microsoft.com/office/powerpoint/2010/main" val="39013024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533B9E-0B4C-48C6-A643-912E5063078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1779E47-636E-4E16-967A-6C3EB07732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8D360D-6FCD-4E3C-BFAF-BBFF69F90F83}"/>
              </a:ext>
            </a:extLst>
          </p:cNvPr>
          <p:cNvSpPr>
            <a:spLocks noGrp="1"/>
          </p:cNvSpPr>
          <p:nvPr>
            <p:ph type="dt" sz="half" idx="10"/>
          </p:nvPr>
        </p:nvSpPr>
        <p:spPr/>
        <p:txBody>
          <a:bodyPr/>
          <a:lstStyle/>
          <a:p>
            <a:fld id="{AF299649-94B9-41F6-9C94-7C4C278B73E4}" type="datetimeFigureOut">
              <a:rPr lang="en-US" smtClean="0"/>
              <a:t>8/27/2026</a:t>
            </a:fld>
            <a:endParaRPr lang="en-US"/>
          </a:p>
        </p:txBody>
      </p:sp>
      <p:sp>
        <p:nvSpPr>
          <p:cNvPr id="5" name="Footer Placeholder 4">
            <a:extLst>
              <a:ext uri="{FF2B5EF4-FFF2-40B4-BE49-F238E27FC236}">
                <a16:creationId xmlns:a16="http://schemas.microsoft.com/office/drawing/2014/main" id="{86F1C9DB-6E48-46A0-A5D7-184C528B54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B430C0-92CF-4C4F-A248-9AAB138C7BBD}"/>
              </a:ext>
            </a:extLst>
          </p:cNvPr>
          <p:cNvSpPr>
            <a:spLocks noGrp="1"/>
          </p:cNvSpPr>
          <p:nvPr>
            <p:ph type="sldNum" sz="quarter" idx="12"/>
          </p:nvPr>
        </p:nvSpPr>
        <p:spPr/>
        <p:txBody>
          <a:bodyPr/>
          <a:lstStyle/>
          <a:p>
            <a:fld id="{4AE6495D-3EE1-4F7B-9EA7-EA1C695C2F5C}" type="slidenum">
              <a:rPr lang="en-US" smtClean="0"/>
              <a:t>‹#›</a:t>
            </a:fld>
            <a:endParaRPr lang="en-US"/>
          </a:p>
        </p:txBody>
      </p:sp>
    </p:spTree>
    <p:extLst>
      <p:ext uri="{BB962C8B-B14F-4D97-AF65-F5344CB8AC3E}">
        <p14:creationId xmlns:p14="http://schemas.microsoft.com/office/powerpoint/2010/main" val="3751952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CB2318B-8FA2-4C8F-884C-093F394AC2A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4EF5286-DB08-4AEA-AA6E-F7AFF391B6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93DE8D-FC79-4B72-A66F-8EE298A0B0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299649-94B9-41F6-9C94-7C4C278B73E4}" type="datetimeFigureOut">
              <a:rPr lang="en-US" smtClean="0"/>
              <a:t>8/27/2026</a:t>
            </a:fld>
            <a:endParaRPr lang="en-US"/>
          </a:p>
        </p:txBody>
      </p:sp>
      <p:sp>
        <p:nvSpPr>
          <p:cNvPr id="5" name="Footer Placeholder 4">
            <a:extLst>
              <a:ext uri="{FF2B5EF4-FFF2-40B4-BE49-F238E27FC236}">
                <a16:creationId xmlns:a16="http://schemas.microsoft.com/office/drawing/2014/main" id="{9190CA2D-1E88-4DFF-822C-09466327BD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593A9B7-EA59-4B87-9D26-1515CAB247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E6495D-3EE1-4F7B-9EA7-EA1C695C2F5C}" type="slidenum">
              <a:rPr lang="en-US" smtClean="0"/>
              <a:t>‹#›</a:t>
            </a:fld>
            <a:endParaRPr lang="en-US"/>
          </a:p>
        </p:txBody>
      </p:sp>
    </p:spTree>
    <p:extLst>
      <p:ext uri="{BB962C8B-B14F-4D97-AF65-F5344CB8AC3E}">
        <p14:creationId xmlns:p14="http://schemas.microsoft.com/office/powerpoint/2010/main" val="18711362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Pic1" Type="http://schemas.openxmlformats.org/officeDocument/2006/relationships/image" Target="../media/image_s1_1.png"/>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Pic1" Type="http://schemas.openxmlformats.org/officeDocument/2006/relationships/image" Target="../media/image_s2_1.png"/>
  <Relationship Id="rIdPic2" Type="http://schemas.openxmlformats.org/officeDocument/2006/relationships/image" Target="../media/image_s2_2.png"/>
  <Relationship Id="rIdPic3" Type="http://schemas.openxmlformats.org/officeDocument/2006/relationships/image" Target="../media/image_s2_3.png"/>
  <Relationship Id="rIdPic4" Type="http://schemas.openxmlformats.org/officeDocument/2006/relationships/image" Target="../media/image_s2_4.png"/>
  <Relationship Id="rIdPic5" Type="http://schemas.openxmlformats.org/officeDocument/2006/relationships/image" Target="../media/image_s2_5.png"/>
  <Relationship Id="rIdPic6" Type="http://schemas.openxmlformats.org/officeDocument/2006/relationships/image" Target="../media/image_s2_6.png"/>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Pic1" Type="http://schemas.openxmlformats.org/officeDocument/2006/relationships/image" Target="../media/image_s3_1.png"/>
  <Relationship Id="rIdPic2" Type="http://schemas.openxmlformats.org/officeDocument/2006/relationships/image" Target="../media/image_s3_2.png"/>
  <Relationship Id="rIdPic3" Type="http://schemas.openxmlformats.org/officeDocument/2006/relationships/image" Target="../media/image_s3_3.png"/>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Pic1" Type="http://schemas.openxmlformats.org/officeDocument/2006/relationships/image" Target="../media/image_s4_1.png"/>
  <Relationship Id="rIdPic2" Type="http://schemas.openxmlformats.org/officeDocument/2006/relationships/image" Target="../media/image_s4_2.png"/>
  <Relationship Id="rIdPic3" Type="http://schemas.openxmlformats.org/officeDocument/2006/relationships/image" Target="../media/image_s4_3.png"/>
  <Relationship Id="rIdPic4" Type="http://schemas.openxmlformats.org/officeDocument/2006/relationships/image" Target="../media/image_s4_4.png"/>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Pic1" Type="http://schemas.openxmlformats.org/officeDocument/2006/relationships/image" Target="../media/image_s5_1.png"/>
  <Relationship Id="rIdPic2" Type="http://schemas.openxmlformats.org/officeDocument/2006/relationships/image" Target="../media/image_s5_2.png"/>
  <Relationship Id="rIdPic3" Type="http://schemas.openxmlformats.org/officeDocument/2006/relationships/image" Target="../media/image_s5_3.png"/>
  <Relationship Id="rIdPic4" Type="http://schemas.openxmlformats.org/officeDocument/2006/relationships/image" Target="../media/image_s5_4.png"/>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Pic1" Type="http://schemas.openxmlformats.org/officeDocument/2006/relationships/image" Target="../media/image_s6_1.png"/>
  <Relationship Id="rIdPic2" Type="http://schemas.openxmlformats.org/officeDocument/2006/relationships/image" Target="../media/image_s6_2.png"/>
  <Relationship Id="rIdPic3" Type="http://schemas.openxmlformats.org/officeDocument/2006/relationships/image" Target="../media/image_s6_3.png"/>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Pic1" Type="http://schemas.openxmlformats.org/officeDocument/2006/relationships/image" Target="../media/image_s7_1.png"/>
  <Relationship Id="rIdPic2" Type="http://schemas.openxmlformats.org/officeDocument/2006/relationships/image" Target="../media/image_s7_2.png"/>
  <Relationship Id="rIdPic3" Type="http://schemas.openxmlformats.org/officeDocument/2006/relationships/image" Target="../media/image_s7_3.png"/>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Pic1" Type="http://schemas.openxmlformats.org/officeDocument/2006/relationships/image" Target="../media/image_s8_1.png"/>
  <Relationship Id="rIdPic2" Type="http://schemas.openxmlformats.org/officeDocument/2006/relationships/image" Target="../media/image_s8_2.png"/>
  <Relationship Id="rIdPic3" Type="http://schemas.openxmlformats.org/officeDocument/2006/relationships/image" Target="../media/image_s8_3.png"/>
  <Relationship Id="rIdPic4" Type="http://schemas.openxmlformats.org/officeDocument/2006/relationships/image" Target="../media/image_s8_4.png"/>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Pic1" Type="http://schemas.openxmlformats.org/officeDocument/2006/relationships/image" Target="../media/image_s9_1.png"/>
  <Relationship Id="rIdPic2" Type="http://schemas.openxmlformats.org/officeDocument/2006/relationships/image" Target="../media/image_s9_2.png"/>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Pic1" Type="http://schemas.openxmlformats.org/officeDocument/2006/relationships/image" Target="../media/image_s10_1.png"/>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Pic1" Type="http://schemas.openxmlformats.org/officeDocument/2006/relationships/image" Target="../media/image_s11_1.png"/>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Pic1" Type="http://schemas.openxmlformats.org/officeDocument/2006/relationships/image" Target="../media/image_s12_1.png"/>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Pic1" Type="http://schemas.openxmlformats.org/officeDocument/2006/relationships/image" Target="../media/image_s13_1.png"/>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Pic1" Type="http://schemas.openxmlformats.org/officeDocument/2006/relationships/image" Target="../media/image_s14_1.png"/>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Pic1" Type="http://schemas.openxmlformats.org/officeDocument/2006/relationships/image" Target="../media/image_s15_1.png"/>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Pic1" Type="http://schemas.openxmlformats.org/officeDocument/2006/relationships/image" Target="../media/image_s16_1.png"/>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 Id="rIdPic1" Type="http://schemas.openxmlformats.org/officeDocument/2006/relationships/image" Target="../media/image_s17_1.png"/>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 Id="rIdPic1" Type="http://schemas.openxmlformats.org/officeDocument/2006/relationships/image" Target="../media/image_s18_1.png"/>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xml"/>
  <Relationship Id="rIdPic1" Type="http://schemas.openxmlformats.org/officeDocument/2006/relationships/image" Target="../media/image_s19_1.png"/>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1.xml"/>
  <Relationship Id="rIdPic1" Type="http://schemas.openxmlformats.org/officeDocument/2006/relationships/image" Target="../media/image_s20_1.png"/>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1.xml"/>
  <Relationship Id="rIdPic1" Type="http://schemas.openxmlformats.org/officeDocument/2006/relationships/image" Target="../media/image_s21_1.png"/>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1.xml"/>
  <Relationship Id="rIdPic1" Type="http://schemas.openxmlformats.org/officeDocument/2006/relationships/image" Target="../media/image_s22_1.png"/>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1.xml"/>
  <Relationship Id="rIdPic1" Type="http://schemas.openxmlformats.org/officeDocument/2006/relationships/image" Target="../media/image_s23_1.png"/>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1.xml"/>
  <Relationship Id="rIdPic1" Type="http://schemas.openxmlformats.org/officeDocument/2006/relationships/image" Target="../media/image_s24_1.png"/>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1.xml"/>
  <Relationship Id="rIdPic1" Type="http://schemas.openxmlformats.org/officeDocument/2006/relationships/image" Target="../media/image_s25_1.png"/>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1.xml"/>
  <Relationship Id="rIdPic1" Type="http://schemas.openxmlformats.org/officeDocument/2006/relationships/image" Target="../media/image_s26_1.png"/>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1.xml"/>
  <Relationship Id="rIdPic1" Type="http://schemas.openxmlformats.org/officeDocument/2006/relationships/image" Target="../media/image_s27_1.png"/>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1.xml"/>
  <Relationship Id="rIdPic1" Type="http://schemas.openxmlformats.org/officeDocument/2006/relationships/image" Target="../media/image_s28_1.png"/>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1.xml"/>
  <Relationship Id="rIdPic1" Type="http://schemas.openxmlformats.org/officeDocument/2006/relationships/image" Target="../media/image_s29_1.png"/>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1.xml"/>
  <Relationship Id="rIdPic1" Type="http://schemas.openxmlformats.org/officeDocument/2006/relationships/image" Target="../media/image_s30_1.png"/>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1.xml"/>
  <Relationship Id="rIdPic1" Type="http://schemas.openxmlformats.org/officeDocument/2006/relationships/image" Target="../media/image_s31_1.png"/>
</Relationships>

</file>

<file path=ppt/slides/slide1.xml><?xml version="1.0" encoding="utf-8"?>
<p:sld xmlns:a="http://schemas.openxmlformats.org/drawingml/2006/main" xmlns:r="http://schemas.openxmlformats.org/officeDocument/2006/relationships" xmlns:p="http://schemas.openxmlformats.org/presentationml/2006/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 name="Freeform 2"/>
          <p:cNvPicPr>
            <a:picLocks noChangeAspect="0"/>
          </p:cNvPicPr>
          <p:nvPr/>
        </p:nvPicPr>
        <p:blipFill>
          <a:blip r:embed="rIdPic1"/>
          <a:stretch>
            <a:fillRect/>
          </a:stretch>
        </p:blipFill>
        <p:spPr>
          <a:xfrm>
            <a:off x="0" y="0"/>
            <a:ext cx="18382740" cy="10340291"/>
          </a:xfrm>
          <a:prstGeom prst="rect">
            <a:avLst/>
          </a:prstGeom>
        </p:spPr>
      </p:pic>
      <p:sp>
        <p:nvSpPr>
          <p:cNvPr id="3" name="Hình 3e42"/>
          <p:cNvSpPr/>
          <p:nvPr/>
        </p:nvSpPr>
        <p:spPr>
          <a:xfrm>
            <a:off x="8629650" y="4629150"/>
            <a:ext cx="2857500" cy="1905000"/>
          </a:xfrm>
          <a:prstGeom prst="rect">
            <a:avLst/>
          </a:prstGeom>
          <a:no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 name="Freeform 2"/>
          <p:cNvPicPr>
            <a:picLocks noChangeAspect="0"/>
          </p:cNvPicPr>
          <p:nvPr/>
        </p:nvPicPr>
        <p:blipFill>
          <a:blip r:embed="rIdPic1"/>
          <a:stretch>
            <a:fillRect/>
          </a:stretch>
        </p:blipFill>
        <p:spPr>
          <a:xfrm>
            <a:off x="0" y="0"/>
            <a:ext cx="18382740" cy="10340291"/>
          </a:xfrm>
          <a:prstGeom prst="rect">
            <a:avLst/>
          </a:prstGeom>
        </p:spPr>
      </p:pic>
      <p:sp>
        <p:nvSpPr>
          <p:cNvPr id="3" name="Freeform 4"/>
          <p:cNvSpPr/>
          <p:nvPr/>
        </p:nvSpPr>
        <p:spPr>
          <a:xfrm>
            <a:off x="0" y="-41356"/>
            <a:ext cx="18379964" cy="10445759"/>
          </a:xfrm>
          <a:custGeom>
            <a:avLst/>
            <a:gdLst/>
            <a:ahLst/>
            <a:cxnLst/>
            <a:rect l="l" t="t" r="r" b="b"/>
            <a:pathLst>
              <a:path w="4840813" h="2751146">
                <a:moveTo>
                  <a:pt x="0" y="0"/>
                </a:moveTo>
                <a:lnTo>
                  <a:pt x="4840813" y="0"/>
                </a:lnTo>
                <a:lnTo>
                  <a:pt x="4840813" y="2751146"/>
                </a:lnTo>
                <a:lnTo>
                  <a:pt x="0" y="2751146"/>
                </a:lnTo>
                <a:close/>
              </a:path>
            </a:pathLst>
          </a:custGeom>
          <a:noFill/>
        </p:spPr>
      </p:sp>
      <p:sp>
        <p:nvSpPr>
          <p:cNvPr id="4" name="TextBox 5"/>
          <p:cNvSpPr/>
          <p:nvPr/>
        </p:nvSpPr>
        <p:spPr>
          <a:xfrm>
            <a:off x="0" y="-149851"/>
            <a:ext cx="18379964" cy="10554255"/>
          </a:xfrm>
          <a:prstGeom prst="rect">
            <a:avLst/>
          </a:prstGeom>
          <a:noFill/>
        </p:spPr>
      </p:sp>
      <p:pic>
        <p:nvPicPr>
          <p:cNvPr id="5" name="Freeform 6"/>
          <p:cNvPicPr>
            <a:picLocks noChangeAspect="0"/>
          </p:cNvPicPr>
          <p:nvPr/>
        </p:nvPicPr>
        <p:blipFill>
          <a:blip r:embed="rIdPic2"/>
          <a:stretch>
            <a:fillRect/>
          </a:stretch>
        </p:blipFill>
        <p:spPr>
          <a:xfrm>
            <a:off x="2513975" y="-489944"/>
            <a:ext cx="13260049" cy="4433829"/>
          </a:xfrm>
          <a:prstGeom prst="rect">
            <a:avLst/>
          </a:prstGeom>
        </p:spPr>
      </p:pic>
      <p:pic>
        <p:nvPicPr>
          <p:cNvPr id="6" name="Freeform 7"/>
          <p:cNvPicPr>
            <a:picLocks noChangeAspect="0"/>
          </p:cNvPicPr>
          <p:nvPr/>
        </p:nvPicPr>
        <p:blipFill>
          <a:blip r:embed="rIdPic3"/>
          <a:stretch>
            <a:fillRect/>
          </a:stretch>
        </p:blipFill>
        <p:spPr>
          <a:xfrm>
            <a:off x="5705647" y="932247"/>
            <a:ext cx="6762358" cy="2252711"/>
          </a:xfrm>
          <a:prstGeom prst="rect">
            <a:avLst/>
          </a:prstGeom>
        </p:spPr>
      </p:pic>
      <p:sp>
        <p:nvSpPr>
          <p:cNvPr id="7" name="TextBox 8"/>
          <p:cNvSpPr/>
          <p:nvPr/>
        </p:nvSpPr>
        <p:spPr>
          <a:xfrm>
            <a:off x="2091525" y="3398725"/>
            <a:ext cx="14104950" cy="1152550"/>
          </a:xfrm>
          <a:prstGeom prst="rect">
            <a:avLst/>
          </a:prstGeom>
          <a:noFill/>
        </p:spPr>
        <p:txBody>
          <a:bodyPr anchor="t" wrap="square" lIns="0" rIns="0" tIns="0" bIns="0"/>
          <a:lstStyle/>
          <a:p>
            <a:pPr algn="ctr">
              <a:lnSpc>
                <a:spcPts val="9448"/>
              </a:lnSpc>
            </a:pPr>
            <a:r>
              <a:rPr sz="6749" b="1" i="0" u="none">
                <a:solidFill>
                  <a:srgbClr val="FFFFFF"/>
                </a:solidFill>
                <a:latin typeface="Muli Heavy"/>
              </a:rPr>
              <a:t>HỘI NHẬP KINH TẾ QUỐC TẾ</a:t>
            </a:r>
          </a:p>
        </p:txBody>
      </p:sp>
      <p:pic>
        <p:nvPicPr>
          <p:cNvPr id="8" name="Freeform 9"/>
          <p:cNvPicPr>
            <a:picLocks noChangeAspect="0"/>
          </p:cNvPicPr>
          <p:nvPr/>
        </p:nvPicPr>
        <p:blipFill>
          <a:blip r:embed="rIdPic4"/>
          <a:stretch>
            <a:fillRect/>
          </a:stretch>
        </p:blipFill>
        <p:spPr>
          <a:xfrm>
            <a:off x="3556153" y="-369211"/>
            <a:ext cx="9442263" cy="12247554"/>
            <a:rot rot="89432"/>
          </a:xfrm>
          <a:prstGeom prst="rect">
            <a:avLst/>
          </a:prstGeom>
        </p:spPr>
      </p:pic>
      <p:pic>
        <p:nvPicPr>
          <p:cNvPr id="9" name="Freeform 11"/>
          <p:cNvPicPr>
            <a:picLocks noChangeAspect="0"/>
          </p:cNvPicPr>
          <p:nvPr/>
        </p:nvPicPr>
        <p:blipFill>
          <a:blip r:embed="rIdPic5"/>
          <a:stretch>
            <a:fillRect/>
          </a:stretch>
        </p:blipFill>
        <p:spPr>
          <a:xfrm>
            <a:off x="11318514" y="8012400"/>
            <a:ext cx="1149493" cy="2327891"/>
          </a:xfrm>
          <a:prstGeom prst="rect">
            <a:avLst/>
          </a:prstGeom>
        </p:spPr>
      </p:pic>
      <p:pic>
        <p:nvPicPr>
          <p:cNvPr id="10" name="Freeform 12"/>
          <p:cNvPicPr>
            <a:picLocks noChangeAspect="0"/>
          </p:cNvPicPr>
          <p:nvPr/>
        </p:nvPicPr>
        <p:blipFill>
          <a:blip r:embed="rIdPic6"/>
          <a:stretch>
            <a:fillRect/>
          </a:stretch>
        </p:blipFill>
        <p:spPr>
          <a:xfrm>
            <a:off x="10933579" y="9335258"/>
            <a:ext cx="1136797" cy="100503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c="http://schemas.openxmlformats.org/markup-compatibility/2006">
  <p:cSld>
    <p:bg>
      <p:bgPr>
        <a:gradFill rotWithShape="0">
          <a:gsLst>
            <a:gs pos="0">
              <a:srgbClr val="EEFBFF"/>
            </a:gs>
            <a:gs pos="100000">
              <a:srgbClr val="FFFFFF"/>
            </a:gs>
          </a:gsLst>
          <a:lin ang="5400000"/>
        </a:gradFill>
      </p:bgPr>
    </p:bg>
    <p:spTree>
      <p:nvGrpSpPr>
        <p:cNvPr id="1" name=""/>
        <p:cNvGrpSpPr/>
        <p:nvPr/>
      </p:nvGrpSpPr>
      <p:grpSpPr>
        <a:xfrm>
          <a:off x="0" y="0"/>
          <a:ext cx="0" cy="0"/>
          <a:chOff x="0" y="0"/>
          <a:chExt cx="0" cy="0"/>
        </a:xfrm>
      </p:grpSpPr>
      <p:pic>
        <p:nvPicPr>
          <p:cNvPr id="2" name="Freeform 2"/>
          <p:cNvPicPr>
            <a:picLocks noChangeAspect="0"/>
          </p:cNvPicPr>
          <p:nvPr/>
        </p:nvPicPr>
        <p:blipFill>
          <a:blip r:embed="rIdPic1"/>
          <a:stretch>
            <a:fillRect/>
          </a:stretch>
        </p:blipFill>
        <p:spPr>
          <a:xfrm>
            <a:off x="0" y="0"/>
            <a:ext cx="18483218" cy="10287000"/>
          </a:xfrm>
          <a:prstGeom prst="rect">
            <a:avLst/>
          </a:prstGeom>
        </p:spPr>
      </p:pic>
      <p:sp>
        <p:nvSpPr>
          <p:cNvPr id="3" name="TextBox 3"/>
          <p:cNvSpPr/>
          <p:nvPr/>
        </p:nvSpPr>
        <p:spPr>
          <a:xfrm>
            <a:off x="510755" y="2285538"/>
            <a:ext cx="11345478" cy="5712327"/>
          </a:xfrm>
          <a:prstGeom prst="rect">
            <a:avLst/>
          </a:prstGeom>
          <a:noFill/>
        </p:spPr>
        <p:txBody>
          <a:bodyPr anchor="t" wrap="square" lIns="0" rIns="0" tIns="0" bIns="0"/>
          <a:lstStyle/>
          <a:p>
            <a:pPr algn="l">
              <a:lnSpc>
                <a:spcPts val="15008"/>
              </a:lnSpc>
            </a:pPr>
            <a:r>
              <a:rPr sz="12302" b="0" i="0" u="none">
                <a:solidFill>
                  <a:srgbClr val="FFFFFF"/>
                </a:solidFill>
                <a:latin typeface="Anton"/>
              </a:rPr>
              <a:t>KHÁI NIỆM VÀ SỰ CẦN THIẾT HỘI NHẬP KINH TẾ QUỐC TẾ</a:t>
            </a:r>
          </a:p>
        </p:txBody>
      </p:sp>
      <p:pic>
        <p:nvPicPr>
          <p:cNvPr id="4" name="Freeform 4"/>
          <p:cNvPicPr>
            <a:picLocks noChangeAspect="0"/>
          </p:cNvPicPr>
          <p:nvPr/>
        </p:nvPicPr>
        <p:blipFill>
          <a:blip r:embed="rIdPic2"/>
          <a:stretch>
            <a:fillRect/>
          </a:stretch>
        </p:blipFill>
        <p:spPr>
          <a:xfrm>
            <a:off x="6245740" y="-4298006"/>
            <a:ext cx="13289469" cy="7483776"/>
            <a:rot rot="759233"/>
          </a:xfrm>
          <a:prstGeom prst="rect">
            <a:avLst/>
          </a:prstGeom>
        </p:spPr>
      </p:pic>
      <p:pic>
        <p:nvPicPr>
          <p:cNvPr id="5" name="Freeform 5"/>
          <p:cNvPicPr>
            <a:picLocks noChangeAspect="0"/>
          </p:cNvPicPr>
          <p:nvPr/>
        </p:nvPicPr>
        <p:blipFill>
          <a:blip r:embed="rIdPic3"/>
          <a:stretch>
            <a:fillRect/>
          </a:stretch>
        </p:blipFill>
        <p:spPr>
          <a:xfrm>
            <a:off x="7877272" y="3151789"/>
            <a:ext cx="13017515" cy="7517615"/>
          </a:xfrm>
          <a:prstGeom prst="rect">
            <a:avLst/>
          </a:prstGeom>
        </p:spPr>
      </p:pic>
      <p:sp>
        <p:nvSpPr>
          <p:cNvPr id="6" name="TextBox 6"/>
          <p:cNvSpPr/>
          <p:nvPr/>
        </p:nvSpPr>
        <p:spPr>
          <a:xfrm>
            <a:off x="510755" y="-1666875"/>
            <a:ext cx="3363688" cy="3879212"/>
          </a:xfrm>
          <a:prstGeom prst="rect">
            <a:avLst/>
          </a:prstGeom>
          <a:noFill/>
        </p:spPr>
        <p:txBody>
          <a:bodyPr anchor="t" wrap="square" lIns="0" rIns="0" tIns="0" bIns="0"/>
          <a:lstStyle/>
          <a:p>
            <a:pPr algn="l">
              <a:lnSpc>
                <a:spcPts val="20335"/>
              </a:lnSpc>
            </a:pPr>
            <a:r>
              <a:rPr sz="14525" b="0" i="0" u="none">
                <a:solidFill>
                  <a:srgbClr val="FFFFFF"/>
                </a:solidFill>
                <a:latin typeface="モトヤ装飾エンボス A"/>
              </a:rPr>
              <a:t>1.</a:t>
            </a:r>
          </a:p>
        </p:txBody>
      </p:sp>
    </p:spTree>
  </p:cSld>
  <p:clrMapOvr>
    <a:masterClrMapping/>
  </p:clrMapOvr>
  <p:transition spd="med" advClick="1">
    <p:fade/>
  </p:transition>
</p:sld>
</file>

<file path=ppt/slides/slide4.xml><?xml version="1.0" encoding="utf-8"?>
<p:sld xmlns:a="http://schemas.openxmlformats.org/drawingml/2006/main" xmlns:r="http://schemas.openxmlformats.org/officeDocument/2006/relationships" xmlns:p="http://schemas.openxmlformats.org/presentationml/2006/main" xmlns:mc="http://schemas.openxmlformats.org/markup-compatibility/2006">
  <p:cSld>
    <p:bg>
      <p:bgPr>
        <a:gradFill rotWithShape="0">
          <a:gsLst>
            <a:gs pos="0">
              <a:srgbClr val="EEFBFF"/>
            </a:gs>
            <a:gs pos="100000">
              <a:srgbClr val="FFFFFF"/>
            </a:gs>
          </a:gsLst>
          <a:lin ang="5400000"/>
        </a:gradFill>
      </p:bgPr>
    </p:bg>
    <p:spTree>
      <p:nvGrpSpPr>
        <p:cNvPr id="1" name=""/>
        <p:cNvGrpSpPr/>
        <p:nvPr/>
      </p:nvGrpSpPr>
      <p:grpSpPr>
        <a:xfrm>
          <a:off x="0" y="0"/>
          <a:ext cx="0" cy="0"/>
          <a:chOff x="0" y="0"/>
          <a:chExt cx="0" cy="0"/>
        </a:xfrm>
      </p:grpSpPr>
      <p:pic>
        <p:nvPicPr>
          <p:cNvPr id="2" name="Freeform 2"/>
          <p:cNvPicPr>
            <a:picLocks noChangeAspect="0"/>
          </p:cNvPicPr>
          <p:nvPr/>
        </p:nvPicPr>
        <p:blipFill>
          <a:blip r:embed="rIdPic1"/>
          <a:stretch>
            <a:fillRect/>
          </a:stretch>
        </p:blipFill>
        <p:spPr>
          <a:xfrm>
            <a:off x="0" y="0"/>
            <a:ext cx="18483218" cy="10287000"/>
          </a:xfrm>
          <a:prstGeom prst="rect">
            <a:avLst/>
          </a:prstGeom>
        </p:spPr>
      </p:pic>
      <p:pic>
        <p:nvPicPr>
          <p:cNvPr id="3" name="Freeform 3"/>
          <p:cNvPicPr>
            <a:picLocks noChangeAspect="0"/>
          </p:cNvPicPr>
          <p:nvPr/>
        </p:nvPicPr>
        <p:blipFill>
          <a:blip r:embed="rIdPic2"/>
          <a:stretch>
            <a:fillRect/>
          </a:stretch>
        </p:blipFill>
        <p:spPr>
          <a:xfrm>
            <a:off x="0" y="-2050889"/>
            <a:ext cx="18288000" cy="9389895"/>
          </a:xfrm>
          <a:prstGeom prst="rect">
            <a:avLst/>
          </a:prstGeom>
        </p:spPr>
      </p:pic>
      <p:sp>
        <p:nvSpPr>
          <p:cNvPr id="4" name="Freeform 5"/>
          <p:cNvSpPr/>
          <p:nvPr/>
        </p:nvSpPr>
        <p:spPr>
          <a:xfrm>
            <a:off x="3929200" y="3926343"/>
            <a:ext cx="10429598" cy="3207678"/>
          </a:xfrm>
          <a:custGeom>
            <a:avLst/>
            <a:gdLst/>
            <a:ahLst/>
            <a:cxnLst/>
            <a:rect l="l" t="t" r="r" b="b"/>
            <a:pathLst>
              <a:path w="2746890" h="844820">
                <a:moveTo>
                  <a:pt x="14104" y="0"/>
                </a:moveTo>
                <a:lnTo>
                  <a:pt x="2732786" y="0"/>
                </a:lnTo>
                <a:cubicBezTo>
                  <a:pt x="2740575" y="0"/>
                  <a:pt x="2746890" y="6314"/>
                  <a:pt x="2746890" y="14104"/>
                </a:cubicBezTo>
                <a:lnTo>
                  <a:pt x="2746890" y="830717"/>
                </a:lnTo>
                <a:cubicBezTo>
                  <a:pt x="2746890" y="834457"/>
                  <a:pt x="2745404" y="838045"/>
                  <a:pt x="2742759" y="840690"/>
                </a:cubicBezTo>
                <a:cubicBezTo>
                  <a:pt x="2740114" y="843334"/>
                  <a:pt x="2736527" y="844820"/>
                  <a:pt x="2732786" y="844820"/>
                </a:cubicBezTo>
                <a:lnTo>
                  <a:pt x="14104" y="844820"/>
                </a:lnTo>
                <a:cubicBezTo>
                  <a:pt x="10363" y="844820"/>
                  <a:pt x="6776" y="843334"/>
                  <a:pt x="4131" y="840690"/>
                </a:cubicBezTo>
                <a:cubicBezTo>
                  <a:pt x="1486" y="838045"/>
                  <a:pt x="0" y="834457"/>
                  <a:pt x="0" y="830717"/>
                </a:cubicBezTo>
                <a:lnTo>
                  <a:pt x="0" y="14104"/>
                </a:lnTo>
                <a:cubicBezTo>
                  <a:pt x="0" y="10363"/>
                  <a:pt x="1486" y="6776"/>
                  <a:pt x="4131" y="4131"/>
                </a:cubicBezTo>
                <a:cubicBezTo>
                  <a:pt x="6776" y="1486"/>
                  <a:pt x="10363" y="0"/>
                  <a:pt x="14104" y="0"/>
                </a:cubicBezTo>
                <a:close/>
              </a:path>
            </a:pathLst>
          </a:custGeom>
          <a:gradFill rotWithShape="1">
            <a:gsLst>
              <a:gs pos="0">
                <a:srgbClr val="FFFFFF"/>
              </a:gs>
              <a:gs pos="100000">
                <a:srgbClr val="D3F8FF"/>
              </a:gs>
            </a:gsLst>
            <a:lin ang="5400000"/>
          </a:gradFill>
          <a:ln w="12700">
            <a:solidFill>
              <a:srgbClr val="000000"/>
            </a:solidFill>
          </a:ln>
        </p:spPr>
      </p:sp>
      <p:sp>
        <p:nvSpPr>
          <p:cNvPr id="5" name="TextBox 6"/>
          <p:cNvSpPr/>
          <p:nvPr/>
        </p:nvSpPr>
        <p:spPr>
          <a:xfrm>
            <a:off x="3929200" y="4071003"/>
            <a:ext cx="10429598" cy="3063017"/>
          </a:xfrm>
          <a:prstGeom prst="rect">
            <a:avLst/>
          </a:prstGeom>
          <a:noFill/>
        </p:spPr>
      </p:sp>
      <p:sp>
        <p:nvSpPr>
          <p:cNvPr id="6" name="Freeform 8"/>
          <p:cNvSpPr/>
          <p:nvPr/>
        </p:nvSpPr>
        <p:spPr>
          <a:xfrm>
            <a:off x="5049530" y="3297001"/>
            <a:ext cx="7993721" cy="1258683"/>
          </a:xfrm>
          <a:custGeom>
            <a:avLst/>
            <a:gdLst/>
            <a:ahLst/>
            <a:cxnLst/>
            <a:rect l="l" t="t" r="r" b="b"/>
            <a:pathLst>
              <a:path w="2394092" h="376971">
                <a:moveTo>
                  <a:pt x="18402" y="0"/>
                </a:moveTo>
                <a:lnTo>
                  <a:pt x="2375691" y="0"/>
                </a:lnTo>
                <a:cubicBezTo>
                  <a:pt x="2385854" y="0"/>
                  <a:pt x="2394092" y="8239"/>
                  <a:pt x="2394092" y="18402"/>
                </a:cubicBezTo>
                <a:lnTo>
                  <a:pt x="2394092" y="358570"/>
                </a:lnTo>
                <a:cubicBezTo>
                  <a:pt x="2394092" y="368733"/>
                  <a:pt x="2385854" y="376971"/>
                  <a:pt x="2375691" y="376971"/>
                </a:cubicBezTo>
                <a:lnTo>
                  <a:pt x="18402" y="376971"/>
                </a:lnTo>
                <a:cubicBezTo>
                  <a:pt x="13521" y="376971"/>
                  <a:pt x="8841" y="375033"/>
                  <a:pt x="5390" y="371582"/>
                </a:cubicBezTo>
                <a:cubicBezTo>
                  <a:pt x="1939" y="368131"/>
                  <a:pt x="0" y="363450"/>
                  <a:pt x="0" y="358570"/>
                </a:cubicBezTo>
                <a:lnTo>
                  <a:pt x="0" y="18402"/>
                </a:lnTo>
                <a:cubicBezTo>
                  <a:pt x="0" y="13521"/>
                  <a:pt x="1939" y="8841"/>
                  <a:pt x="5390" y="5390"/>
                </a:cubicBezTo>
                <a:cubicBezTo>
                  <a:pt x="8841" y="1939"/>
                  <a:pt x="13521" y="0"/>
                  <a:pt x="18402" y="0"/>
                </a:cubicBezTo>
                <a:close/>
              </a:path>
            </a:pathLst>
          </a:custGeom>
          <a:gradFill rotWithShape="1">
            <a:gsLst>
              <a:gs pos="0">
                <a:srgbClr val="357AFF"/>
              </a:gs>
              <a:gs pos="100000">
                <a:srgbClr val="193FC4"/>
              </a:gs>
            </a:gsLst>
            <a:lin ang="5400000"/>
          </a:gradFill>
          <a:ln w="12700">
            <a:solidFill>
              <a:srgbClr val="000000"/>
            </a:solidFill>
          </a:ln>
        </p:spPr>
      </p:sp>
      <p:sp>
        <p:nvSpPr>
          <p:cNvPr id="7" name="TextBox 9"/>
          <p:cNvSpPr/>
          <p:nvPr/>
        </p:nvSpPr>
        <p:spPr>
          <a:xfrm>
            <a:off x="5049530" y="3424214"/>
            <a:ext cx="7993721" cy="1131469"/>
          </a:xfrm>
          <a:prstGeom prst="rect">
            <a:avLst/>
          </a:prstGeom>
          <a:noFill/>
        </p:spPr>
      </p:sp>
      <p:sp>
        <p:nvSpPr>
          <p:cNvPr id="8" name="TextBox 10"/>
          <p:cNvSpPr/>
          <p:nvPr/>
        </p:nvSpPr>
        <p:spPr>
          <a:xfrm>
            <a:off x="5441296" y="4813527"/>
            <a:ext cx="7417116" cy="2118233"/>
          </a:xfrm>
          <a:prstGeom prst="rect">
            <a:avLst/>
          </a:prstGeom>
          <a:noFill/>
        </p:spPr>
        <p:txBody>
          <a:bodyPr anchor="t" wrap="square" lIns="0" rIns="0" tIns="0" bIns="0"/>
          <a:lstStyle/>
          <a:p>
            <a:pPr algn="just">
              <a:lnSpc>
                <a:spcPts val="4140"/>
              </a:lnSpc>
            </a:pPr>
            <a:r>
              <a:rPr sz="4099" b="1" i="0" u="none">
                <a:solidFill>
                  <a:srgbClr val="11247E"/>
                </a:solidFill>
                <a:latin typeface="Proxima Nova Heavy"/>
              </a:rPr>
              <a:t> ‘HỘ</a:t>
            </a:r>
            <a:r>
              <a:rPr sz="4099" b="1" i="0" u="none">
                <a:solidFill>
                  <a:srgbClr val="11247E"/>
                </a:solidFill>
                <a:latin typeface="Proxima Nova Heavy"/>
              </a:rPr>
              <a:t>I NHẬP KINH TẾ QUỐC TẾ’ VÀ ‘HỢP TÁC KINH TẾ QUỐC TẾ’ CÓ PHẢI LÀ MỘT KHÁI NIỆM KHÔNG?</a:t>
            </a:r>
          </a:p>
        </p:txBody>
      </p:sp>
      <p:pic>
        <p:nvPicPr>
          <p:cNvPr id="9" name="Freeform 11"/>
          <p:cNvPicPr>
            <a:picLocks noChangeAspect="0"/>
          </p:cNvPicPr>
          <p:nvPr/>
        </p:nvPicPr>
        <p:blipFill>
          <a:blip r:embed="rIdPic3"/>
          <a:stretch>
            <a:fillRect/>
          </a:stretch>
        </p:blipFill>
        <p:spPr>
          <a:xfrm>
            <a:off x="9543337" y="5116141"/>
            <a:ext cx="9756958" cy="6035358"/>
          </a:xfrm>
          <a:prstGeom prst="rect">
            <a:avLst/>
          </a:prstGeom>
        </p:spPr>
      </p:pic>
      <p:sp>
        <p:nvSpPr>
          <p:cNvPr id="10" name="TextBox 12"/>
          <p:cNvSpPr/>
          <p:nvPr/>
        </p:nvSpPr>
        <p:spPr>
          <a:xfrm>
            <a:off x="7123820" y="3718702"/>
            <a:ext cx="4040360" cy="546608"/>
          </a:xfrm>
          <a:prstGeom prst="rect">
            <a:avLst/>
          </a:prstGeom>
          <a:noFill/>
        </p:spPr>
        <p:txBody>
          <a:bodyPr anchor="t" wrap="square" lIns="0" rIns="0" tIns="0" bIns="0"/>
          <a:lstStyle/>
          <a:p>
            <a:pPr algn="ctr">
              <a:lnSpc>
                <a:spcPts val="4140"/>
              </a:lnSpc>
            </a:pPr>
            <a:r>
              <a:rPr sz="4099" b="1" i="0" u="none">
                <a:solidFill>
                  <a:srgbClr val="FFFFFF"/>
                </a:solidFill>
                <a:latin typeface="Proxima Nova Heavy"/>
              </a:rPr>
              <a:t>CÂU HỎI</a:t>
            </a:r>
          </a:p>
        </p:txBody>
      </p:sp>
      <p:pic>
        <p:nvPicPr>
          <p:cNvPr id="11" name="Freeform 13"/>
          <p:cNvPicPr>
            <a:picLocks noChangeAspect="0"/>
          </p:cNvPicPr>
          <p:nvPr/>
        </p:nvPicPr>
        <p:blipFill>
          <a:blip r:embed="rIdPic4"/>
          <a:stretch>
            <a:fillRect/>
          </a:stretch>
        </p:blipFill>
        <p:spPr>
          <a:xfrm>
            <a:off x="-5312346" y="-1224671"/>
            <a:ext cx="13084230" cy="6697490"/>
            <a:rot rot="585985"/>
          </a:xfrm>
          <a:prstGeom prst="rect">
            <a:avLst/>
          </a:prstGeom>
        </p:spPr>
      </p:pic>
    </p:spTree>
  </p:cSld>
  <p:clrMapOvr>
    <a:masterClrMapping/>
  </p:clrMapOvr>
  <p:transition spd="med" advClick="1">
    <p:fade/>
  </p:transition>
</p:sld>
</file>

<file path=ppt/slides/slide5.xml><?xml version="1.0" encoding="utf-8"?>
<p:sld xmlns:a="http://schemas.openxmlformats.org/drawingml/2006/main" xmlns:r="http://schemas.openxmlformats.org/officeDocument/2006/relationships" xmlns:p="http://schemas.openxmlformats.org/presentationml/2006/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 name="Freeform 2"/>
          <p:cNvPicPr>
            <a:picLocks noChangeAspect="0"/>
          </p:cNvPicPr>
          <p:nvPr/>
        </p:nvPicPr>
        <p:blipFill>
          <a:blip r:embed="rIdPic1"/>
          <a:stretch>
            <a:fillRect/>
          </a:stretch>
        </p:blipFill>
        <p:spPr>
          <a:xfrm>
            <a:off x="0" y="0"/>
            <a:ext cx="18288000" cy="10287000"/>
          </a:xfrm>
          <a:prstGeom prst="rect">
            <a:avLst/>
          </a:prstGeom>
        </p:spPr>
      </p:pic>
      <p:pic>
        <p:nvPicPr>
          <p:cNvPr id="3" name="Freeform 3"/>
          <p:cNvPicPr>
            <a:picLocks noChangeAspect="0"/>
          </p:cNvPicPr>
          <p:nvPr/>
        </p:nvPicPr>
        <p:blipFill>
          <a:blip r:embed="rIdPic2"/>
          <a:stretch>
            <a:fillRect/>
          </a:stretch>
        </p:blipFill>
        <p:spPr>
          <a:xfrm>
            <a:off x="0" y="0"/>
            <a:ext cx="18515756" cy="10287000"/>
          </a:xfrm>
          <a:prstGeom prst="rect">
            <a:avLst/>
          </a:prstGeom>
        </p:spPr>
      </p:pic>
      <p:pic>
        <p:nvPicPr>
          <p:cNvPr id="4" name="Freeform 4"/>
          <p:cNvPicPr>
            <a:picLocks noChangeAspect="0"/>
          </p:cNvPicPr>
          <p:nvPr/>
        </p:nvPicPr>
        <p:blipFill>
          <a:blip r:embed="rIdPic3"/>
          <a:stretch>
            <a:fillRect/>
          </a:stretch>
        </p:blipFill>
        <p:spPr>
          <a:xfrm>
            <a:off x="0" y="-2050889"/>
            <a:ext cx="18288000" cy="9389895"/>
          </a:xfrm>
          <a:prstGeom prst="rect">
            <a:avLst/>
          </a:prstGeom>
        </p:spPr>
      </p:pic>
      <p:sp>
        <p:nvSpPr>
          <p:cNvPr id="5" name="Freeform 6"/>
          <p:cNvSpPr/>
          <p:nvPr/>
        </p:nvSpPr>
        <p:spPr>
          <a:xfrm>
            <a:off x="-575049" y="2150406"/>
            <a:ext cx="19665854" cy="186011"/>
          </a:xfrm>
          <a:custGeom>
            <a:avLst/>
            <a:gdLst/>
            <a:ahLst/>
            <a:cxnLst/>
            <a:rect l="l" t="t" r="r" b="b"/>
            <a:pathLst>
              <a:path w="5179484" h="48991">
                <a:moveTo>
                  <a:pt x="0" y="0"/>
                </a:moveTo>
                <a:lnTo>
                  <a:pt x="5179484" y="0"/>
                </a:lnTo>
                <a:lnTo>
                  <a:pt x="5179484" y="48991"/>
                </a:lnTo>
                <a:lnTo>
                  <a:pt x="0" y="48991"/>
                </a:lnTo>
                <a:close/>
              </a:path>
            </a:pathLst>
          </a:custGeom>
          <a:noFill/>
          <a:ln w="47625">
            <a:solidFill>
              <a:srgbClr val="FFFFFF"/>
            </a:solidFill>
          </a:ln>
        </p:spPr>
      </p:sp>
      <p:sp>
        <p:nvSpPr>
          <p:cNvPr id="6" name="TextBox 7"/>
          <p:cNvSpPr/>
          <p:nvPr/>
        </p:nvSpPr>
        <p:spPr>
          <a:xfrm>
            <a:off x="-575049" y="2041911"/>
            <a:ext cx="19665854" cy="294505"/>
          </a:xfrm>
          <a:prstGeom prst="rect">
            <a:avLst/>
          </a:prstGeom>
          <a:noFill/>
        </p:spPr>
      </p:sp>
      <p:sp>
        <p:nvSpPr>
          <p:cNvPr id="7" name="Freeform 9"/>
          <p:cNvSpPr/>
          <p:nvPr/>
        </p:nvSpPr>
        <p:spPr>
          <a:xfrm>
            <a:off x="-219075" y="2336417"/>
            <a:ext cx="12330242" cy="5154207"/>
          </a:xfrm>
          <a:custGeom>
            <a:avLst/>
            <a:gdLst/>
            <a:ahLst/>
            <a:cxnLst/>
            <a:rect l="l" t="t" r="r" b="b"/>
            <a:pathLst>
              <a:path w="2915606" h="1218762">
                <a:moveTo>
                  <a:pt x="0" y="0"/>
                </a:moveTo>
                <a:lnTo>
                  <a:pt x="2915606" y="0"/>
                </a:lnTo>
                <a:lnTo>
                  <a:pt x="2915606" y="1218762"/>
                </a:lnTo>
                <a:lnTo>
                  <a:pt x="0" y="1218762"/>
                </a:lnTo>
                <a:close/>
              </a:path>
            </a:pathLst>
          </a:custGeom>
          <a:gradFill rotWithShape="1">
            <a:gsLst>
              <a:gs pos="0">
                <a:srgbClr val="D9FFF9">
                  <a:alpha val="0"/>
                </a:srgbClr>
              </a:gs>
              <a:gs pos="25000">
                <a:srgbClr val="EAFFF8">
                  <a:alpha val="80500"/>
                </a:srgbClr>
              </a:gs>
              <a:gs pos="50000">
                <a:srgbClr val="D1FFFA">
                  <a:alpha val="93500"/>
                </a:srgbClr>
              </a:gs>
              <a:gs pos="75000">
                <a:srgbClr val="EAFFF8">
                  <a:alpha val="82500"/>
                </a:srgbClr>
              </a:gs>
              <a:gs pos="100000">
                <a:srgbClr val="E4FFF8">
                  <a:alpha val="0"/>
                </a:srgbClr>
              </a:gs>
            </a:gsLst>
            <a:lin ang="0"/>
          </a:gradFill>
        </p:spPr>
      </p:sp>
      <p:sp>
        <p:nvSpPr>
          <p:cNvPr id="8" name="TextBox 10"/>
          <p:cNvSpPr/>
          <p:nvPr/>
        </p:nvSpPr>
        <p:spPr>
          <a:xfrm>
            <a:off x="-219075" y="2135008"/>
            <a:ext cx="12330242" cy="5355615"/>
          </a:xfrm>
          <a:prstGeom prst="rect">
            <a:avLst/>
          </a:prstGeom>
          <a:noFill/>
        </p:spPr>
      </p:sp>
      <p:sp>
        <p:nvSpPr>
          <p:cNvPr id="9" name="Freeform 12"/>
          <p:cNvSpPr/>
          <p:nvPr/>
        </p:nvSpPr>
        <p:spPr>
          <a:xfrm>
            <a:off x="6278090" y="4486191"/>
            <a:ext cx="2741006" cy="657309"/>
          </a:xfrm>
          <a:custGeom>
            <a:avLst/>
            <a:gdLst/>
            <a:ahLst/>
            <a:cxnLst/>
            <a:rect l="l" t="t" r="r" b="b"/>
            <a:pathLst>
              <a:path w="721911" h="173118">
                <a:moveTo>
                  <a:pt x="0" y="0"/>
                </a:moveTo>
                <a:lnTo>
                  <a:pt x="721911" y="0"/>
                </a:lnTo>
                <a:lnTo>
                  <a:pt x="721911" y="173118"/>
                </a:lnTo>
                <a:lnTo>
                  <a:pt x="0" y="173118"/>
                </a:lnTo>
                <a:close/>
              </a:path>
            </a:pathLst>
          </a:custGeom>
          <a:gradFill rotWithShape="1">
            <a:gsLst>
              <a:gs pos="0">
                <a:srgbClr val="569CEF"/>
              </a:gs>
              <a:gs pos="100000">
                <a:srgbClr val="193FC4"/>
              </a:gs>
            </a:gsLst>
            <a:lin ang="5400000"/>
          </a:gradFill>
        </p:spPr>
      </p:sp>
      <p:sp>
        <p:nvSpPr>
          <p:cNvPr id="10" name="TextBox 13"/>
          <p:cNvSpPr/>
          <p:nvPr/>
        </p:nvSpPr>
        <p:spPr>
          <a:xfrm>
            <a:off x="6278090" y="4630852"/>
            <a:ext cx="2741006" cy="512647"/>
          </a:xfrm>
          <a:prstGeom prst="rect">
            <a:avLst/>
          </a:prstGeom>
          <a:noFill/>
        </p:spPr>
      </p:sp>
      <p:sp>
        <p:nvSpPr>
          <p:cNvPr id="11" name="Freeform 15"/>
          <p:cNvSpPr/>
          <p:nvPr/>
        </p:nvSpPr>
        <p:spPr>
          <a:xfrm>
            <a:off x="1545027" y="4486191"/>
            <a:ext cx="1263602" cy="657309"/>
          </a:xfrm>
          <a:custGeom>
            <a:avLst/>
            <a:gdLst/>
            <a:ahLst/>
            <a:cxnLst/>
            <a:rect l="l" t="t" r="r" b="b"/>
            <a:pathLst>
              <a:path w="332801" h="173118">
                <a:moveTo>
                  <a:pt x="0" y="0"/>
                </a:moveTo>
                <a:lnTo>
                  <a:pt x="332801" y="0"/>
                </a:lnTo>
                <a:lnTo>
                  <a:pt x="332801" y="173118"/>
                </a:lnTo>
                <a:lnTo>
                  <a:pt x="0" y="173118"/>
                </a:lnTo>
                <a:close/>
              </a:path>
            </a:pathLst>
          </a:custGeom>
          <a:gradFill rotWithShape="1">
            <a:gsLst>
              <a:gs pos="0">
                <a:srgbClr val="569CEF"/>
              </a:gs>
              <a:gs pos="100000">
                <a:srgbClr val="193FC4"/>
              </a:gs>
            </a:gsLst>
            <a:lin ang="5400000"/>
          </a:gradFill>
        </p:spPr>
      </p:sp>
      <p:sp>
        <p:nvSpPr>
          <p:cNvPr id="12" name="TextBox 16"/>
          <p:cNvSpPr/>
          <p:nvPr/>
        </p:nvSpPr>
        <p:spPr>
          <a:xfrm>
            <a:off x="1545027" y="4630852"/>
            <a:ext cx="1263602" cy="512647"/>
          </a:xfrm>
          <a:prstGeom prst="rect">
            <a:avLst/>
          </a:prstGeom>
          <a:noFill/>
        </p:spPr>
      </p:sp>
      <p:sp>
        <p:nvSpPr>
          <p:cNvPr id="13" name="Freeform 18"/>
          <p:cNvSpPr/>
          <p:nvPr/>
        </p:nvSpPr>
        <p:spPr>
          <a:xfrm>
            <a:off x="7282932" y="5705605"/>
            <a:ext cx="2078473" cy="657309"/>
          </a:xfrm>
          <a:custGeom>
            <a:avLst/>
            <a:gdLst/>
            <a:ahLst/>
            <a:cxnLst/>
            <a:rect l="l" t="t" r="r" b="b"/>
            <a:pathLst>
              <a:path w="547417" h="173118">
                <a:moveTo>
                  <a:pt x="0" y="0"/>
                </a:moveTo>
                <a:lnTo>
                  <a:pt x="547417" y="0"/>
                </a:lnTo>
                <a:lnTo>
                  <a:pt x="547417" y="173118"/>
                </a:lnTo>
                <a:lnTo>
                  <a:pt x="0" y="173118"/>
                </a:lnTo>
                <a:close/>
              </a:path>
            </a:pathLst>
          </a:custGeom>
          <a:gradFill rotWithShape="1">
            <a:gsLst>
              <a:gs pos="0">
                <a:srgbClr val="569CEF"/>
              </a:gs>
              <a:gs pos="100000">
                <a:srgbClr val="193FC4"/>
              </a:gs>
            </a:gsLst>
            <a:lin ang="5400000"/>
          </a:gradFill>
        </p:spPr>
      </p:sp>
      <p:sp>
        <p:nvSpPr>
          <p:cNvPr id="14" name="TextBox 19"/>
          <p:cNvSpPr/>
          <p:nvPr/>
        </p:nvSpPr>
        <p:spPr>
          <a:xfrm>
            <a:off x="7282932" y="5850266"/>
            <a:ext cx="2078473" cy="512647"/>
          </a:xfrm>
          <a:prstGeom prst="rect">
            <a:avLst/>
          </a:prstGeom>
          <a:noFill/>
        </p:spPr>
      </p:sp>
      <p:sp>
        <p:nvSpPr>
          <p:cNvPr id="15" name="Freeform 21"/>
          <p:cNvSpPr/>
          <p:nvPr/>
        </p:nvSpPr>
        <p:spPr>
          <a:xfrm>
            <a:off x="1729450" y="6362914"/>
            <a:ext cx="5182008" cy="657309"/>
          </a:xfrm>
          <a:custGeom>
            <a:avLst/>
            <a:gdLst/>
            <a:ahLst/>
            <a:cxnLst/>
            <a:rect l="l" t="t" r="r" b="b"/>
            <a:pathLst>
              <a:path w="1364809" h="173118">
                <a:moveTo>
                  <a:pt x="0" y="0"/>
                </a:moveTo>
                <a:lnTo>
                  <a:pt x="1364809" y="0"/>
                </a:lnTo>
                <a:lnTo>
                  <a:pt x="1364809" y="173118"/>
                </a:lnTo>
                <a:lnTo>
                  <a:pt x="0" y="173118"/>
                </a:lnTo>
                <a:close/>
              </a:path>
            </a:pathLst>
          </a:custGeom>
          <a:gradFill rotWithShape="1">
            <a:gsLst>
              <a:gs pos="0">
                <a:srgbClr val="569CEF"/>
              </a:gs>
              <a:gs pos="100000">
                <a:srgbClr val="193FC4"/>
              </a:gs>
            </a:gsLst>
            <a:lin ang="5400000"/>
          </a:gradFill>
        </p:spPr>
      </p:sp>
      <p:sp>
        <p:nvSpPr>
          <p:cNvPr id="16" name="TextBox 22"/>
          <p:cNvSpPr/>
          <p:nvPr/>
        </p:nvSpPr>
        <p:spPr>
          <a:xfrm>
            <a:off x="1729450" y="6507575"/>
            <a:ext cx="5182008" cy="512647"/>
          </a:xfrm>
          <a:prstGeom prst="rect">
            <a:avLst/>
          </a:prstGeom>
          <a:noFill/>
        </p:spPr>
      </p:sp>
      <p:sp>
        <p:nvSpPr>
          <p:cNvPr id="17" name="TextBox 23"/>
          <p:cNvSpPr/>
          <p:nvPr/>
        </p:nvSpPr>
        <p:spPr>
          <a:xfrm>
            <a:off x="1729450" y="3296661"/>
            <a:ext cx="8433192" cy="3709417"/>
          </a:xfrm>
          <a:prstGeom prst="rect">
            <a:avLst/>
          </a:prstGeom>
          <a:noFill/>
        </p:spPr>
        <p:txBody>
          <a:bodyPr anchor="t" wrap="square" lIns="0" rIns="0" tIns="0" bIns="0"/>
          <a:lstStyle/>
          <a:p>
            <a:pPr algn="just">
              <a:lnSpc>
                <a:spcPts val="4901"/>
              </a:lnSpc>
            </a:pPr>
            <a:r>
              <a:rPr sz="3799" b="0" i="0" u="none">
                <a:gradFill>
                  <a:gsLst>
                    <a:gs pos="0">
                      <a:srgbClr val="11247E"/>
                    </a:gs>
                    <a:gs pos="100000">
                      <a:srgbClr val="007DFF"/>
                    </a:gs>
                  </a:gsLst>
                  <a:lin ang="0"/>
                </a:gradFill>
                <a:latin typeface="Anton"/>
              </a:rPr>
              <a:t>HỘI NHẬP KINH TẾ QUỐC TẾ LÀ QUÁ TRÌNH MỘT QUỐC GIA THỰC HIỆN GẮN KẾT NỀN KINH TẾ CỦA </a:t>
            </a:r>
            <a:r>
              <a:rPr sz="3799" b="0" i="0" u="none">
                <a:solidFill>
                  <a:srgbClr val="FFFFFF"/>
                </a:solidFill>
                <a:latin typeface="Anton"/>
              </a:rPr>
              <a:t>MÌNH</a:t>
            </a:r>
            <a:r>
              <a:rPr sz="3799" b="0" i="0" u="none">
                <a:gradFill>
                  <a:gsLst>
                    <a:gs pos="0">
                      <a:srgbClr val="11247E"/>
                    </a:gs>
                    <a:gs pos="100000">
                      <a:srgbClr val="007DFF"/>
                    </a:gs>
                  </a:gsLst>
                  <a:lin ang="0"/>
                </a:gradFill>
                <a:latin typeface="Anton"/>
              </a:rPr>
              <a:t> VỚI NỀN KINH TẾ </a:t>
            </a:r>
            <a:r>
              <a:rPr sz="3799" b="0" i="0" u="none">
                <a:solidFill>
                  <a:srgbClr val="FFFFFF"/>
                </a:solidFill>
                <a:latin typeface="Anton"/>
              </a:rPr>
              <a:t>CÁC QUỐC GIA</a:t>
            </a:r>
            <a:r>
              <a:rPr sz="3799" b="0" i="0" u="none">
                <a:gradFill>
                  <a:gsLst>
                    <a:gs pos="0">
                      <a:srgbClr val="11247E"/>
                    </a:gs>
                    <a:gs pos="100000">
                      <a:srgbClr val="007DFF"/>
                    </a:gs>
                  </a:gsLst>
                  <a:lin ang="0"/>
                </a:gradFill>
                <a:latin typeface="Anton"/>
              </a:rPr>
              <a:t> KHÁC TRONG KHU VỰC VÀ TRÊN THẾ GIỚI DỰA TRÊN SỰ CHIA SẺ LỢI ÍCH, ĐỒNG THỜI </a:t>
            </a:r>
            <a:r>
              <a:rPr sz="3799" b="0" i="0" u="none">
                <a:solidFill>
                  <a:srgbClr val="FFFFFF"/>
                </a:solidFill>
                <a:latin typeface="Anton"/>
              </a:rPr>
              <a:t>TUÂN THỦ</a:t>
            </a:r>
            <a:r>
              <a:rPr sz="3799" b="0" i="0" u="none">
                <a:gradFill>
                  <a:gsLst>
                    <a:gs pos="0">
                      <a:srgbClr val="11247E"/>
                    </a:gs>
                    <a:gs pos="100000">
                      <a:srgbClr val="007DFF"/>
                    </a:gs>
                  </a:gsLst>
                  <a:lin ang="0"/>
                </a:gradFill>
                <a:latin typeface="Anton"/>
              </a:rPr>
              <a:t> CÁC </a:t>
            </a:r>
            <a:r>
              <a:rPr sz="3799" b="0" i="0" u="none">
                <a:solidFill>
                  <a:srgbClr val="FFFFFF"/>
                </a:solidFill>
                <a:latin typeface="Anton"/>
              </a:rPr>
              <a:t>CHUẨN MỰC QUỐC TẾ CHUNG</a:t>
            </a:r>
            <a:r>
              <a:rPr sz="3799" b="0" i="0" u="none">
                <a:gradFill>
                  <a:gsLst>
                    <a:gs pos="0">
                      <a:srgbClr val="11247E"/>
                    </a:gs>
                    <a:gs pos="100000">
                      <a:srgbClr val="007DFF"/>
                    </a:gs>
                  </a:gsLst>
                  <a:lin ang="0"/>
                </a:gradFill>
                <a:latin typeface="Anton"/>
              </a:rPr>
              <a:t>.</a:t>
            </a:r>
          </a:p>
        </p:txBody>
      </p:sp>
      <p:pic>
        <p:nvPicPr>
          <p:cNvPr id="18" name="Freeform 24"/>
          <p:cNvPicPr>
            <a:picLocks noChangeAspect="0"/>
          </p:cNvPicPr>
          <p:nvPr/>
        </p:nvPicPr>
        <p:blipFill>
          <a:blip r:embed="rIdPic4"/>
          <a:stretch>
            <a:fillRect/>
          </a:stretch>
        </p:blipFill>
        <p:spPr>
          <a:xfrm>
            <a:off x="9733896" y="4219566"/>
            <a:ext cx="13084230" cy="6542115"/>
          </a:xfrm>
          <a:prstGeom prst="rect">
            <a:avLst/>
          </a:prstGeom>
        </p:spPr>
      </p:pic>
      <p:sp>
        <p:nvSpPr>
          <p:cNvPr id="19" name="TextBox 25"/>
          <p:cNvSpPr/>
          <p:nvPr/>
        </p:nvSpPr>
        <p:spPr>
          <a:xfrm>
            <a:off x="317269" y="111250"/>
            <a:ext cx="7941403" cy="2727326"/>
          </a:xfrm>
          <a:prstGeom prst="rect">
            <a:avLst/>
          </a:prstGeom>
          <a:noFill/>
        </p:spPr>
        <p:txBody>
          <a:bodyPr anchor="t" wrap="square" lIns="0" rIns="0" tIns="0" bIns="0"/>
          <a:lstStyle/>
          <a:p>
            <a:pPr algn="just">
              <a:lnSpc>
                <a:spcPts val="22399"/>
              </a:lnSpc>
            </a:pPr>
            <a:r>
              <a:rPr sz="15999" b="0" i="0" u="none">
                <a:gradFill>
                  <a:gsLst>
                    <a:gs pos="0">
                      <a:srgbClr val="FFFFFF"/>
                    </a:gs>
                    <a:gs pos="50000">
                      <a:srgbClr val="0085FF"/>
                    </a:gs>
                    <a:gs pos="100000">
                      <a:srgbClr val="CFDFFD"/>
                    </a:gs>
                  </a:gsLst>
                  <a:lin ang="0"/>
                </a:gradFill>
                <a:latin typeface="Anton"/>
              </a:rPr>
              <a:t>KHÁI NIỆM</a:t>
            </a:r>
          </a:p>
        </p:txBody>
      </p:sp>
    </p:spTree>
  </p:cSld>
  <p:clrMapOvr>
    <a:masterClrMapping/>
  </p:clrMapOvr>
  <p:transition spd="med" advClick="1">
    <p:cover dir="l"/>
  </p:transition>
</p:sld>
</file>

<file path=ppt/slides/slide6.xml><?xml version="1.0" encoding="utf-8"?>
<p:sld xmlns:a="http://schemas.openxmlformats.org/drawingml/2006/main" xmlns:r="http://schemas.openxmlformats.org/officeDocument/2006/relationships" xmlns:p="http://schemas.openxmlformats.org/presentationml/2006/main" xmlns:mc="http://schemas.openxmlformats.org/markup-compatibility/2006">
  <p:cSld>
    <p:bg>
      <p:bgPr>
        <a:solidFill>
          <a:srgbClr val="FFFCF2"/>
        </a:solidFill>
      </p:bgPr>
    </p:bg>
    <p:spTree>
      <p:nvGrpSpPr>
        <p:cNvPr id="1" name=""/>
        <p:cNvGrpSpPr/>
        <p:nvPr/>
      </p:nvGrpSpPr>
      <p:grpSpPr>
        <a:xfrm>
          <a:off x="0" y="0"/>
          <a:ext cx="0" cy="0"/>
          <a:chOff x="0" y="0"/>
          <a:chExt cx="0" cy="0"/>
        </a:xfrm>
      </p:grpSpPr>
      <p:pic>
        <p:nvPicPr>
          <p:cNvPr id="2" name="Freeform 2"/>
          <p:cNvPicPr>
            <a:picLocks noChangeAspect="0"/>
          </p:cNvPicPr>
          <p:nvPr/>
        </p:nvPicPr>
        <p:blipFill>
          <a:blip r:embed="rIdPic1"/>
          <a:stretch>
            <a:fillRect/>
          </a:stretch>
        </p:blipFill>
        <p:spPr>
          <a:xfrm>
            <a:off x="0" y="0"/>
            <a:ext cx="18483218" cy="10287000"/>
          </a:xfrm>
          <a:prstGeom prst="rect">
            <a:avLst/>
          </a:prstGeom>
        </p:spPr>
      </p:pic>
      <p:pic>
        <p:nvPicPr>
          <p:cNvPr id="3" name="Freeform 3"/>
          <p:cNvPicPr>
            <a:picLocks noChangeAspect="0"/>
          </p:cNvPicPr>
          <p:nvPr/>
        </p:nvPicPr>
        <p:blipFill>
          <a:blip r:embed="rIdPic2"/>
          <a:stretch>
            <a:fillRect/>
          </a:stretch>
        </p:blipFill>
        <p:spPr>
          <a:xfrm>
            <a:off x="0" y="0"/>
            <a:ext cx="18483218" cy="10396810"/>
          </a:xfrm>
          <a:prstGeom prst="rect">
            <a:avLst/>
          </a:prstGeom>
        </p:spPr>
      </p:pic>
      <p:sp>
        <p:nvSpPr>
          <p:cNvPr id="4" name="Freeform 5"/>
          <p:cNvSpPr/>
          <p:nvPr/>
        </p:nvSpPr>
        <p:spPr>
          <a:xfrm>
            <a:off x="8907127" y="4139744"/>
            <a:ext cx="8987453" cy="3771826"/>
          </a:xfrm>
          <a:custGeom>
            <a:avLst/>
            <a:gdLst/>
            <a:ahLst/>
            <a:cxnLst/>
            <a:rect l="l" t="t" r="r" b="b"/>
            <a:pathLst>
              <a:path w="2367066" h="993403">
                <a:moveTo>
                  <a:pt x="23258" y="0"/>
                </a:moveTo>
                <a:lnTo>
                  <a:pt x="2343808" y="0"/>
                </a:lnTo>
                <a:cubicBezTo>
                  <a:pt x="2356653" y="0"/>
                  <a:pt x="2367066" y="10413"/>
                  <a:pt x="2367066" y="23258"/>
                </a:cubicBezTo>
                <a:lnTo>
                  <a:pt x="2367066" y="970145"/>
                </a:lnTo>
                <a:cubicBezTo>
                  <a:pt x="2367066" y="976313"/>
                  <a:pt x="2364615" y="982229"/>
                  <a:pt x="2360254" y="986591"/>
                </a:cubicBezTo>
                <a:cubicBezTo>
                  <a:pt x="2355892" y="990952"/>
                  <a:pt x="2349976" y="993403"/>
                  <a:pt x="2343808" y="993403"/>
                </a:cubicBezTo>
                <a:lnTo>
                  <a:pt x="23258" y="993403"/>
                </a:lnTo>
                <a:cubicBezTo>
                  <a:pt x="17090" y="993403"/>
                  <a:pt x="11174" y="990952"/>
                  <a:pt x="6812" y="986591"/>
                </a:cubicBezTo>
                <a:cubicBezTo>
                  <a:pt x="2450" y="982229"/>
                  <a:pt x="0" y="976313"/>
                  <a:pt x="0" y="970145"/>
                </a:cubicBezTo>
                <a:lnTo>
                  <a:pt x="0" y="23258"/>
                </a:lnTo>
                <a:cubicBezTo>
                  <a:pt x="0" y="17090"/>
                  <a:pt x="2450" y="11174"/>
                  <a:pt x="6812" y="6812"/>
                </a:cubicBezTo>
                <a:cubicBezTo>
                  <a:pt x="11174" y="2450"/>
                  <a:pt x="17090" y="0"/>
                  <a:pt x="23258" y="0"/>
                </a:cubicBezTo>
                <a:close/>
              </a:path>
            </a:pathLst>
          </a:custGeom>
          <a:gradFill rotWithShape="1">
            <a:gsLst>
              <a:gs pos="0">
                <a:srgbClr val="FDC584">
                  <a:alpha val="69000"/>
                </a:srgbClr>
              </a:gs>
              <a:gs pos="100000">
                <a:srgbClr val="C41919">
                  <a:alpha val="69000"/>
                </a:srgbClr>
              </a:gs>
            </a:gsLst>
            <a:lin ang="5400000"/>
          </a:gradFill>
          <a:ln w="12700">
            <a:solidFill>
              <a:srgbClr val="000000"/>
            </a:solidFill>
          </a:ln>
        </p:spPr>
      </p:sp>
      <p:sp>
        <p:nvSpPr>
          <p:cNvPr id="5" name="TextBox 6"/>
          <p:cNvSpPr/>
          <p:nvPr/>
        </p:nvSpPr>
        <p:spPr>
          <a:xfrm>
            <a:off x="8907127" y="4284405"/>
            <a:ext cx="8987453" cy="3627165"/>
          </a:xfrm>
          <a:prstGeom prst="rect">
            <a:avLst/>
          </a:prstGeom>
          <a:noFill/>
        </p:spPr>
      </p:sp>
      <p:sp>
        <p:nvSpPr>
          <p:cNvPr id="6" name="Freeform 8"/>
          <p:cNvSpPr/>
          <p:nvPr/>
        </p:nvSpPr>
        <p:spPr>
          <a:xfrm>
            <a:off x="13066776" y="8160327"/>
            <a:ext cx="5221223" cy="938958"/>
          </a:xfrm>
          <a:custGeom>
            <a:avLst/>
            <a:gdLst/>
            <a:ahLst/>
            <a:cxnLst/>
            <a:rect l="l" t="t" r="r" b="b"/>
            <a:pathLst>
              <a:path w="2259852" h="406400">
                <a:moveTo>
                  <a:pt x="2056652" y="0"/>
                </a:moveTo>
                <a:cubicBezTo>
                  <a:pt x="2168876" y="0"/>
                  <a:pt x="2259852" y="90976"/>
                  <a:pt x="2259852" y="203200"/>
                </a:cubicBezTo>
                <a:cubicBezTo>
                  <a:pt x="2259852" y="315424"/>
                  <a:pt x="2168876" y="406400"/>
                  <a:pt x="2056652" y="406400"/>
                </a:cubicBezTo>
                <a:lnTo>
                  <a:pt x="203200" y="406400"/>
                </a:lnTo>
                <a:cubicBezTo>
                  <a:pt x="90976" y="406400"/>
                  <a:pt x="0" y="315424"/>
                  <a:pt x="0" y="203200"/>
                </a:cubicBezTo>
                <a:cubicBezTo>
                  <a:pt x="0" y="90976"/>
                  <a:pt x="90976" y="0"/>
                  <a:pt x="203200" y="0"/>
                </a:cubicBezTo>
                <a:close/>
              </a:path>
            </a:pathLst>
          </a:custGeom>
          <a:noFill/>
        </p:spPr>
      </p:sp>
      <p:sp>
        <p:nvSpPr>
          <p:cNvPr id="7" name="TextBox 9"/>
          <p:cNvSpPr/>
          <p:nvPr/>
        </p:nvSpPr>
        <p:spPr>
          <a:xfrm>
            <a:off x="13066776" y="8248354"/>
            <a:ext cx="5221223" cy="850930"/>
          </a:xfrm>
          <a:prstGeom prst="rect">
            <a:avLst/>
          </a:prstGeom>
          <a:noFill/>
        </p:spPr>
      </p:sp>
      <p:pic>
        <p:nvPicPr>
          <p:cNvPr id="8" name="Freeform 10"/>
          <p:cNvPicPr>
            <a:picLocks noChangeAspect="0"/>
          </p:cNvPicPr>
          <p:nvPr/>
        </p:nvPicPr>
        <p:blipFill>
          <a:blip r:embed="rIdPic3"/>
          <a:stretch>
            <a:fillRect/>
          </a:stretch>
        </p:blipFill>
        <p:spPr>
          <a:xfrm>
            <a:off x="13403026" y="40148"/>
            <a:ext cx="411480" cy="8229600"/>
            <a:rot rot="5400000"/>
          </a:xfrm>
          <a:prstGeom prst="rect">
            <a:avLst/>
          </a:prstGeom>
        </p:spPr>
      </p:pic>
      <p:sp>
        <p:nvSpPr>
          <p:cNvPr id="9" name="TextBox 11"/>
          <p:cNvSpPr/>
          <p:nvPr/>
        </p:nvSpPr>
        <p:spPr>
          <a:xfrm>
            <a:off x="13400853" y="7366777"/>
            <a:ext cx="4319885" cy="291211"/>
          </a:xfrm>
          <a:prstGeom prst="rect">
            <a:avLst/>
          </a:prstGeom>
          <a:noFill/>
        </p:spPr>
        <p:txBody>
          <a:bodyPr anchor="t" wrap="square" lIns="0" rIns="0" tIns="0" bIns="0"/>
          <a:lstStyle/>
          <a:p>
            <a:pPr algn="ctr">
              <a:lnSpc>
                <a:spcPts val="2221"/>
              </a:lnSpc>
            </a:pPr>
            <a:r>
              <a:rPr sz="2199" b="1" i="0" u="none">
                <a:solidFill>
                  <a:srgbClr val="FFFFFF"/>
                </a:solidFill>
                <a:latin typeface="Proxima Nova Bold"/>
              </a:rPr>
              <a:t>Cố Tổng Bí thư Nguyễn Phú Trọng</a:t>
            </a:r>
          </a:p>
        </p:txBody>
      </p:sp>
      <p:sp>
        <p:nvSpPr>
          <p:cNvPr id="10" name="TextBox 12"/>
          <p:cNvSpPr/>
          <p:nvPr/>
        </p:nvSpPr>
        <p:spPr>
          <a:xfrm>
            <a:off x="9225296" y="4903613"/>
            <a:ext cx="8351114" cy="1929764"/>
          </a:xfrm>
          <a:prstGeom prst="rect">
            <a:avLst/>
          </a:prstGeom>
          <a:noFill/>
        </p:spPr>
        <p:txBody>
          <a:bodyPr anchor="t" wrap="square" lIns="0" rIns="0" tIns="0" bIns="0"/>
          <a:lstStyle/>
          <a:p>
            <a:pPr algn="just">
              <a:lnSpc>
                <a:spcPts val="3029"/>
              </a:lnSpc>
            </a:pPr>
            <a:r>
              <a:rPr sz="2999" b="1" i="0" u="none">
                <a:solidFill>
                  <a:srgbClr val="FFFFFF"/>
                </a:solidFill>
                <a:latin typeface="Proxima Nova Bold"/>
              </a:rPr>
              <a:t>“Hội nhập kinh tế quốc tế là trọng tâm của hội nhập quốc tế. Một nền kinh tế muốn phát triển bền vững phải giải quyết hài hòa mối quan hệ giữa độc lập, tự chủ với chủ động tham gia sâu vào chuỗi giá trị và mạng sản xuất toàn cầu.”</a:t>
            </a:r>
          </a:p>
        </p:txBody>
      </p:sp>
      <p:sp>
        <p:nvSpPr>
          <p:cNvPr id="11" name="TextBox 13"/>
          <p:cNvSpPr/>
          <p:nvPr/>
        </p:nvSpPr>
        <p:spPr>
          <a:xfrm>
            <a:off x="13343703" y="8285959"/>
            <a:ext cx="4688461" cy="729613"/>
          </a:xfrm>
          <a:prstGeom prst="rect">
            <a:avLst/>
          </a:prstGeom>
          <a:noFill/>
        </p:spPr>
        <p:txBody>
          <a:bodyPr anchor="t" wrap="square" lIns="0" rIns="0" tIns="0" bIns="0"/>
          <a:lstStyle/>
          <a:p>
            <a:pPr algn="just">
              <a:lnSpc>
                <a:spcPts val="1435"/>
              </a:lnSpc>
            </a:pPr>
            <a:r>
              <a:rPr sz="1420" b="0" i="0" u="none">
                <a:solidFill>
                  <a:srgbClr val="8A0000"/>
                </a:solidFill>
                <a:latin typeface="Proxima Nova"/>
              </a:rPr>
              <a:t>Nghị quyết số 06-NQ/TW ngày 05/11/2016 về "Thực hiện có hiệu quả tiến trình hội nhập kinh tế quốc tế, giữ vững ổn định chính trị - xã hội trong bối cảnh nước ta tham gia các hiệp định thương mại tự do thế hệ mới"</a:t>
            </a:r>
          </a:p>
        </p:txBody>
      </p:sp>
    </p:spTree>
  </p:cSld>
  <p:clrMapOvr>
    <a:masterClrMapping/>
  </p:clrMapOvr>
  <p:transition spd="med" advClick="1">
    <p:push dir="r"/>
  </p:transition>
</p:sld>
</file>

<file path=ppt/slides/slide7.xml><?xml version="1.0" encoding="utf-8"?>
<p:sld xmlns:a="http://schemas.openxmlformats.org/drawingml/2006/main" xmlns:r="http://schemas.openxmlformats.org/officeDocument/2006/relationships" xmlns:p="http://schemas.openxmlformats.org/presentationml/2006/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 name="Freeform 2"/>
          <p:cNvPicPr>
            <a:picLocks noChangeAspect="0"/>
          </p:cNvPicPr>
          <p:nvPr/>
        </p:nvPicPr>
        <p:blipFill>
          <a:blip r:embed="rIdPic1"/>
          <a:stretch>
            <a:fillRect/>
          </a:stretch>
        </p:blipFill>
        <p:spPr>
          <a:xfrm>
            <a:off x="0" y="0"/>
            <a:ext cx="18288000" cy="10287000"/>
          </a:xfrm>
          <a:prstGeom prst="rect">
            <a:avLst/>
          </a:prstGeom>
        </p:spPr>
      </p:pic>
      <p:pic>
        <p:nvPicPr>
          <p:cNvPr id="3" name="Freeform 3"/>
          <p:cNvPicPr>
            <a:picLocks noChangeAspect="0"/>
          </p:cNvPicPr>
          <p:nvPr/>
        </p:nvPicPr>
        <p:blipFill>
          <a:blip r:embed="rIdPic2"/>
          <a:stretch>
            <a:fillRect/>
          </a:stretch>
        </p:blipFill>
        <p:spPr>
          <a:xfrm>
            <a:off x="0" y="-2050889"/>
            <a:ext cx="18288000" cy="9389895"/>
          </a:xfrm>
          <a:prstGeom prst="rect">
            <a:avLst/>
          </a:prstGeom>
        </p:spPr>
      </p:pic>
      <p:sp>
        <p:nvSpPr>
          <p:cNvPr id="4" name="Freeform 5"/>
          <p:cNvSpPr/>
          <p:nvPr/>
        </p:nvSpPr>
        <p:spPr>
          <a:xfrm>
            <a:off x="-1226298" y="2336417"/>
            <a:ext cx="12330242" cy="5154207"/>
          </a:xfrm>
          <a:custGeom>
            <a:avLst/>
            <a:gdLst/>
            <a:ahLst/>
            <a:cxnLst/>
            <a:rect l="l" t="t" r="r" b="b"/>
            <a:pathLst>
              <a:path w="2915606" h="1218762">
                <a:moveTo>
                  <a:pt x="0" y="0"/>
                </a:moveTo>
                <a:lnTo>
                  <a:pt x="2915606" y="0"/>
                </a:lnTo>
                <a:lnTo>
                  <a:pt x="2915606" y="1218762"/>
                </a:lnTo>
                <a:lnTo>
                  <a:pt x="0" y="1218762"/>
                </a:lnTo>
                <a:close/>
              </a:path>
            </a:pathLst>
          </a:custGeom>
          <a:gradFill rotWithShape="1">
            <a:gsLst>
              <a:gs pos="0">
                <a:srgbClr val="D9FFF9">
                  <a:alpha val="0"/>
                </a:srgbClr>
              </a:gs>
              <a:gs pos="25000">
                <a:srgbClr val="EAFFF8">
                  <a:alpha val="80500"/>
                </a:srgbClr>
              </a:gs>
              <a:gs pos="50000">
                <a:srgbClr val="D1FFFA">
                  <a:alpha val="93500"/>
                </a:srgbClr>
              </a:gs>
              <a:gs pos="75000">
                <a:srgbClr val="EAFFF8">
                  <a:alpha val="82500"/>
                </a:srgbClr>
              </a:gs>
              <a:gs pos="100000">
                <a:srgbClr val="E4FFF8">
                  <a:alpha val="0"/>
                </a:srgbClr>
              </a:gs>
            </a:gsLst>
            <a:lin ang="0"/>
          </a:gradFill>
        </p:spPr>
      </p:sp>
      <p:sp>
        <p:nvSpPr>
          <p:cNvPr id="5" name="TextBox 6"/>
          <p:cNvSpPr/>
          <p:nvPr/>
        </p:nvSpPr>
        <p:spPr>
          <a:xfrm>
            <a:off x="-1226298" y="2135008"/>
            <a:ext cx="12330242" cy="5355615"/>
          </a:xfrm>
          <a:prstGeom prst="rect">
            <a:avLst/>
          </a:prstGeom>
          <a:noFill/>
        </p:spPr>
      </p:sp>
      <p:pic>
        <p:nvPicPr>
          <p:cNvPr id="6" name="Freeform 7"/>
          <p:cNvPicPr>
            <a:picLocks noChangeAspect="0"/>
          </p:cNvPicPr>
          <p:nvPr/>
        </p:nvPicPr>
        <p:blipFill>
          <a:blip r:embed="rIdPic3"/>
          <a:stretch>
            <a:fillRect/>
          </a:stretch>
        </p:blipFill>
        <p:spPr>
          <a:xfrm>
            <a:off x="6830054" y="2656519"/>
            <a:ext cx="12061374" cy="8040916"/>
          </a:xfrm>
          <a:prstGeom prst="rect">
            <a:avLst/>
          </a:prstGeom>
        </p:spPr>
      </p:pic>
      <p:sp>
        <p:nvSpPr>
          <p:cNvPr id="7" name="Freeform 9"/>
          <p:cNvSpPr/>
          <p:nvPr/>
        </p:nvSpPr>
        <p:spPr>
          <a:xfrm>
            <a:off x="-575049" y="2150406"/>
            <a:ext cx="19665854" cy="186011"/>
          </a:xfrm>
          <a:custGeom>
            <a:avLst/>
            <a:gdLst/>
            <a:ahLst/>
            <a:cxnLst/>
            <a:rect l="l" t="t" r="r" b="b"/>
            <a:pathLst>
              <a:path w="5179484" h="48991">
                <a:moveTo>
                  <a:pt x="0" y="0"/>
                </a:moveTo>
                <a:lnTo>
                  <a:pt x="5179484" y="0"/>
                </a:lnTo>
                <a:lnTo>
                  <a:pt x="5179484" y="48991"/>
                </a:lnTo>
                <a:lnTo>
                  <a:pt x="0" y="48991"/>
                </a:lnTo>
                <a:close/>
              </a:path>
            </a:pathLst>
          </a:custGeom>
          <a:noFill/>
          <a:ln w="47625">
            <a:solidFill>
              <a:srgbClr val="FFFFFF"/>
            </a:solidFill>
          </a:ln>
        </p:spPr>
      </p:sp>
      <p:sp>
        <p:nvSpPr>
          <p:cNvPr id="8" name="TextBox 10"/>
          <p:cNvSpPr/>
          <p:nvPr/>
        </p:nvSpPr>
        <p:spPr>
          <a:xfrm>
            <a:off x="-575049" y="2041911"/>
            <a:ext cx="19665854" cy="294505"/>
          </a:xfrm>
          <a:prstGeom prst="rect">
            <a:avLst/>
          </a:prstGeom>
          <a:noFill/>
        </p:spPr>
      </p:sp>
      <p:sp>
        <p:nvSpPr>
          <p:cNvPr id="9" name="TextBox 11"/>
          <p:cNvSpPr/>
          <p:nvPr/>
        </p:nvSpPr>
        <p:spPr>
          <a:xfrm>
            <a:off x="317269" y="82675"/>
            <a:ext cx="10157509" cy="2727326"/>
          </a:xfrm>
          <a:prstGeom prst="rect">
            <a:avLst/>
          </a:prstGeom>
          <a:noFill/>
        </p:spPr>
        <p:txBody>
          <a:bodyPr anchor="t" wrap="square" lIns="0" rIns="0" tIns="0" bIns="0"/>
          <a:lstStyle/>
          <a:p>
            <a:pPr algn="just">
              <a:lnSpc>
                <a:spcPts val="22399"/>
              </a:lnSpc>
            </a:pPr>
            <a:r>
              <a:rPr sz="15999" b="0" i="0" u="none">
                <a:gradFill>
                  <a:gsLst>
                    <a:gs pos="0">
                      <a:srgbClr val="FFFFFF"/>
                    </a:gs>
                    <a:gs pos="50000">
                      <a:srgbClr val="0085FF"/>
                    </a:gs>
                    <a:gs pos="100000">
                      <a:srgbClr val="CFDFFD"/>
                    </a:gs>
                  </a:gsLst>
                  <a:lin ang="0"/>
                </a:gradFill>
                <a:latin typeface="Anton"/>
              </a:rPr>
              <a:t>SỰ CẦN THIẾT</a:t>
            </a:r>
          </a:p>
        </p:txBody>
      </p:sp>
      <p:sp>
        <p:nvSpPr>
          <p:cNvPr id="10" name="TextBox 12"/>
          <p:cNvSpPr/>
          <p:nvPr/>
        </p:nvSpPr>
        <p:spPr>
          <a:xfrm>
            <a:off x="747721" y="2800475"/>
            <a:ext cx="7945694" cy="4343934"/>
          </a:xfrm>
          <a:prstGeom prst="rect">
            <a:avLst/>
          </a:prstGeom>
          <a:noFill/>
        </p:spPr>
        <p:txBody>
          <a:bodyPr anchor="t" wrap="square" lIns="0" rIns="0" tIns="0" bIns="0"/>
          <a:lstStyle/>
          <a:p>
            <a:pPr algn="just">
              <a:lnSpc>
                <a:spcPts val="4318"/>
              </a:lnSpc>
            </a:pPr>
            <a:r>
              <a:rPr sz="3539" b="0" i="0" u="none">
                <a:gradFill>
                  <a:gsLst>
                    <a:gs pos="0">
                      <a:srgbClr val="0A1C34"/>
                    </a:gs>
                    <a:gs pos="50000">
                      <a:srgbClr val="122584"/>
                    </a:gs>
                    <a:gs pos="100000">
                      <a:srgbClr val="2847E4"/>
                    </a:gs>
                  </a:gsLst>
                  <a:lin ang="0"/>
                </a:gradFill>
                <a:latin typeface="Anton"/>
              </a:rPr>
              <a:t>Trong điều kiện toàn cầu hoá, hội nhập kinh tế quốc tế là tất yếu khách quan với mọi quốc gia. Hội nhập kinh tế quốc tế tạo ra cơ hội để mỗi quốc gia mở rộng thị trường, thu hút vốn đầu tư, chuyển dịch cơ cấu theo hướng hiện đại, thúc đẩy tăng trưởng và phát triển kinh tế; tạo nhiều việc làm và nâng cao thu nhập cho các tầng lớp dân cư.</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 name="Freeform 2"/>
          <p:cNvPicPr>
            <a:picLocks noChangeAspect="0"/>
          </p:cNvPicPr>
          <p:nvPr/>
        </p:nvPicPr>
        <p:blipFill>
          <a:blip r:embed="rIdPic1"/>
          <a:stretch>
            <a:fillRect/>
          </a:stretch>
        </p:blipFill>
        <p:spPr>
          <a:xfrm>
            <a:off x="0" y="0"/>
            <a:ext cx="18288000" cy="10287000"/>
          </a:xfrm>
          <a:prstGeom prst="rect">
            <a:avLst/>
          </a:prstGeom>
        </p:spPr>
      </p:pic>
      <p:pic>
        <p:nvPicPr>
          <p:cNvPr id="3" name="Freeform 3"/>
          <p:cNvPicPr>
            <a:picLocks noChangeAspect="0"/>
          </p:cNvPicPr>
          <p:nvPr/>
        </p:nvPicPr>
        <p:blipFill>
          <a:blip r:embed="rIdPic2"/>
          <a:stretch>
            <a:fillRect/>
          </a:stretch>
        </p:blipFill>
        <p:spPr>
          <a:xfrm>
            <a:off x="0" y="-2050889"/>
            <a:ext cx="18288000" cy="9389895"/>
          </a:xfrm>
          <a:prstGeom prst="rect">
            <a:avLst/>
          </a:prstGeom>
        </p:spPr>
      </p:pic>
      <p:sp>
        <p:nvSpPr>
          <p:cNvPr id="4" name="Freeform 5"/>
          <p:cNvSpPr/>
          <p:nvPr/>
        </p:nvSpPr>
        <p:spPr>
          <a:xfrm>
            <a:off x="-2362617" y="0"/>
            <a:ext cx="12330242" cy="10554493"/>
          </a:xfrm>
          <a:custGeom>
            <a:avLst/>
            <a:gdLst/>
            <a:ahLst/>
            <a:cxnLst/>
            <a:rect l="l" t="t" r="r" b="b"/>
            <a:pathLst>
              <a:path w="2915606" h="2495713">
                <a:moveTo>
                  <a:pt x="0" y="0"/>
                </a:moveTo>
                <a:lnTo>
                  <a:pt x="2915606" y="0"/>
                </a:lnTo>
                <a:lnTo>
                  <a:pt x="2915606" y="2495713"/>
                </a:lnTo>
                <a:lnTo>
                  <a:pt x="0" y="2495713"/>
                </a:lnTo>
                <a:close/>
              </a:path>
            </a:pathLst>
          </a:custGeom>
          <a:gradFill rotWithShape="1">
            <a:gsLst>
              <a:gs pos="0">
                <a:srgbClr val="D9FFF9">
                  <a:alpha val="0"/>
                </a:srgbClr>
              </a:gs>
              <a:gs pos="25000">
                <a:srgbClr val="EAFFF8">
                  <a:alpha val="80500"/>
                </a:srgbClr>
              </a:gs>
              <a:gs pos="50000">
                <a:srgbClr val="D1FFFA">
                  <a:alpha val="93500"/>
                </a:srgbClr>
              </a:gs>
              <a:gs pos="75000">
                <a:srgbClr val="EAFFF8">
                  <a:alpha val="82500"/>
                </a:srgbClr>
              </a:gs>
              <a:gs pos="100000">
                <a:srgbClr val="E4FFF8">
                  <a:alpha val="0"/>
                </a:srgbClr>
              </a:gs>
            </a:gsLst>
            <a:lin ang="0"/>
          </a:gradFill>
        </p:spPr>
      </p:sp>
      <p:sp>
        <p:nvSpPr>
          <p:cNvPr id="5" name="TextBox 6"/>
          <p:cNvSpPr/>
          <p:nvPr/>
        </p:nvSpPr>
        <p:spPr>
          <a:xfrm>
            <a:off x="-2362617" y="-201408"/>
            <a:ext cx="12330242" cy="10755902"/>
          </a:xfrm>
          <a:prstGeom prst="rect">
            <a:avLst/>
          </a:prstGeom>
          <a:noFill/>
        </p:spPr>
      </p:sp>
      <p:pic>
        <p:nvPicPr>
          <p:cNvPr id="6" name="Freeform 7"/>
          <p:cNvPicPr>
            <a:picLocks noChangeAspect="0"/>
          </p:cNvPicPr>
          <p:nvPr/>
        </p:nvPicPr>
        <p:blipFill>
          <a:blip r:embed="rIdPic3"/>
          <a:stretch>
            <a:fillRect/>
          </a:stretch>
        </p:blipFill>
        <p:spPr>
          <a:xfrm>
            <a:off x="8383503" y="4100934"/>
            <a:ext cx="10117403" cy="6744935"/>
          </a:xfrm>
          <a:prstGeom prst="rect">
            <a:avLst/>
          </a:prstGeom>
        </p:spPr>
      </p:pic>
      <p:pic>
        <p:nvPicPr>
          <p:cNvPr id="7" name="Freeform 8"/>
          <p:cNvPicPr>
            <a:picLocks noChangeAspect="0"/>
          </p:cNvPicPr>
          <p:nvPr/>
        </p:nvPicPr>
        <p:blipFill>
          <a:blip r:embed="rIdPic4"/>
          <a:stretch>
            <a:fillRect/>
          </a:stretch>
        </p:blipFill>
        <p:spPr>
          <a:xfrm>
            <a:off x="0" y="7295590"/>
            <a:ext cx="4888353" cy="3258902"/>
          </a:xfrm>
          <a:prstGeom prst="rect">
            <a:avLst/>
          </a:prstGeom>
        </p:spPr>
      </p:pic>
      <p:sp>
        <p:nvSpPr>
          <p:cNvPr id="8" name="Freeform 10"/>
          <p:cNvSpPr/>
          <p:nvPr/>
        </p:nvSpPr>
        <p:spPr>
          <a:xfrm>
            <a:off x="158350" y="250001"/>
            <a:ext cx="8225153" cy="937721"/>
          </a:xfrm>
          <a:custGeom>
            <a:avLst/>
            <a:gdLst/>
            <a:ahLst/>
            <a:cxnLst/>
            <a:rect l="l" t="t" r="r" b="b"/>
            <a:pathLst>
              <a:path w="2166295" h="246972">
                <a:moveTo>
                  <a:pt x="48004" y="0"/>
                </a:moveTo>
                <a:lnTo>
                  <a:pt x="2118292" y="0"/>
                </a:lnTo>
                <a:cubicBezTo>
                  <a:pt x="2144804" y="0"/>
                  <a:pt x="2166295" y="21492"/>
                  <a:pt x="2166295" y="48004"/>
                </a:cubicBezTo>
                <a:lnTo>
                  <a:pt x="2166295" y="198968"/>
                </a:lnTo>
                <a:cubicBezTo>
                  <a:pt x="2166295" y="225480"/>
                  <a:pt x="2144804" y="246972"/>
                  <a:pt x="2118292" y="246972"/>
                </a:cubicBezTo>
                <a:lnTo>
                  <a:pt x="48004" y="246972"/>
                </a:lnTo>
                <a:cubicBezTo>
                  <a:pt x="21492" y="246972"/>
                  <a:pt x="0" y="225480"/>
                  <a:pt x="0" y="198968"/>
                </a:cubicBezTo>
                <a:lnTo>
                  <a:pt x="0" y="48004"/>
                </a:lnTo>
                <a:cubicBezTo>
                  <a:pt x="0" y="21492"/>
                  <a:pt x="21492" y="0"/>
                  <a:pt x="48004" y="0"/>
                </a:cubicBezTo>
                <a:close/>
              </a:path>
            </a:pathLst>
          </a:custGeom>
          <a:gradFill rotWithShape="1">
            <a:gsLst>
              <a:gs pos="0">
                <a:srgbClr val="193FC4"/>
              </a:gs>
              <a:gs pos="100000">
                <a:srgbClr val="2787F8"/>
              </a:gs>
            </a:gsLst>
            <a:lin ang="5400000"/>
          </a:gradFill>
        </p:spPr>
      </p:sp>
      <p:sp>
        <p:nvSpPr>
          <p:cNvPr id="9" name="TextBox 11"/>
          <p:cNvSpPr/>
          <p:nvPr/>
        </p:nvSpPr>
        <p:spPr>
          <a:xfrm>
            <a:off x="158350" y="69174"/>
            <a:ext cx="8225153" cy="1118547"/>
          </a:xfrm>
          <a:prstGeom prst="rect">
            <a:avLst/>
          </a:prstGeom>
          <a:noFill/>
        </p:spPr>
      </p:sp>
      <p:sp>
        <p:nvSpPr>
          <p:cNvPr id="10" name="TextBox 12"/>
          <p:cNvSpPr/>
          <p:nvPr/>
        </p:nvSpPr>
        <p:spPr>
          <a:xfrm>
            <a:off x="437809" y="1628386"/>
            <a:ext cx="7945694" cy="6770447"/>
          </a:xfrm>
          <a:prstGeom prst="rect">
            <a:avLst/>
          </a:prstGeom>
          <a:noFill/>
        </p:spPr>
        <p:txBody>
          <a:bodyPr anchor="t" wrap="square" lIns="0" rIns="0" tIns="0" bIns="0"/>
          <a:lstStyle/>
          <a:p>
            <a:pPr algn="just">
              <a:lnSpc>
                <a:spcPts val="4318"/>
              </a:lnSpc>
            </a:pPr>
            <a:r>
              <a:rPr sz="3539" b="0" i="0" u="none">
                <a:gradFill>
                  <a:gsLst>
                    <a:gs pos="0">
                      <a:srgbClr val="0A1C34"/>
                    </a:gs>
                    <a:gs pos="50000">
                      <a:srgbClr val="122584"/>
                    </a:gs>
                    <a:gs pos="100000">
                      <a:srgbClr val="2847E4"/>
                    </a:gs>
                  </a:gsLst>
                  <a:lin ang="0"/>
                </a:gradFill>
                <a:latin typeface="Anton"/>
              </a:rPr>
              <a:t>Tận dụng nguồn lực bên ngoài: Tiếp thu công nghệ mới, vốn đầu tư và kinh nghiệm quản lý từ các nước phát triển.</a:t>
            </a:r>
          </a:p>
          <a:p>
            <a:pPr algn="just">
              <a:lnSpc>
                <a:spcPts val="4318"/>
              </a:lnSpc>
            </a:pPr>
            <a:r>
              <a:rPr sz="3539" b="0" i="0" u="none">
                <a:gradFill>
                  <a:gsLst>
                    <a:gs pos="0">
                      <a:srgbClr val="0A1C34"/>
                    </a:gs>
                    <a:gs pos="50000">
                      <a:srgbClr val="122584"/>
                    </a:gs>
                    <a:gs pos="100000">
                      <a:srgbClr val="2847E4"/>
                    </a:gs>
                  </a:gsLst>
                  <a:lin ang="0"/>
                </a:gradFill>
                <a:latin typeface="Anton"/>
              </a:rPr>
              <a:t>  Hoàn thiện thể chế: Thúc đẩy cải cách chính sách, pháp luật kinh tế theo chuẩn mực quốc tế.</a:t>
            </a:r>
          </a:p>
          <a:p>
            <a:pPr algn="just">
              <a:lnSpc>
                <a:spcPts val="4318"/>
              </a:lnSpc>
            </a:pPr>
            <a:r>
              <a:rPr sz="3539" b="0" i="0" u="none">
                <a:gradFill>
                  <a:gsLst>
                    <a:gs pos="0">
                      <a:srgbClr val="0A1C34"/>
                    </a:gs>
                    <a:gs pos="50000">
                      <a:srgbClr val="122584"/>
                    </a:gs>
                    <a:gs pos="100000">
                      <a:srgbClr val="2847E4"/>
                    </a:gs>
                  </a:gsLst>
                  <a:lin ang="0"/>
                </a:gradFill>
                <a:latin typeface="Anton"/>
              </a:rPr>
              <a:t>  Nâng cao vị thế: Tăng cường quan hệ đối ngoại, giữ vững môi trường hòa bình để phát triển đất nước.</a:t>
            </a:r>
          </a:p>
        </p:txBody>
      </p:sp>
      <p:sp>
        <p:nvSpPr>
          <p:cNvPr id="11" name="TextBox 13"/>
          <p:cNvSpPr/>
          <p:nvPr/>
        </p:nvSpPr>
        <p:spPr>
          <a:xfrm>
            <a:off x="292541" y="408012"/>
            <a:ext cx="7762875" cy="620688"/>
          </a:xfrm>
          <a:prstGeom prst="rect">
            <a:avLst/>
          </a:prstGeom>
          <a:noFill/>
        </p:spPr>
        <p:txBody>
          <a:bodyPr anchor="t" wrap="square" lIns="0" rIns="0" tIns="0" bIns="0"/>
          <a:lstStyle/>
          <a:p>
            <a:pPr algn="ctr">
              <a:lnSpc>
                <a:spcPts val="5163"/>
              </a:lnSpc>
            </a:pPr>
            <a:r>
              <a:rPr sz="3688" b="1" i="0" u="none">
                <a:solidFill>
                  <a:srgbClr val="FFFFFF"/>
                </a:solidFill>
                <a:latin typeface="Noto Serif Display Bold"/>
              </a:rPr>
              <a:t>VAI TRÒ VÀ TÁC ĐỘNG TÍCH CỰC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 name="Freeform 2"/>
          <p:cNvPicPr>
            <a:picLocks noChangeAspect="0"/>
          </p:cNvPicPr>
          <p:nvPr/>
        </p:nvPicPr>
        <p:blipFill>
          <a:blip r:embed="rIdPic1"/>
          <a:stretch>
            <a:fillRect/>
          </a:stretch>
        </p:blipFill>
        <p:spPr>
          <a:xfrm>
            <a:off x="0" y="0"/>
            <a:ext cx="18288000" cy="10287000"/>
          </a:xfrm>
          <a:prstGeom prst="rect">
            <a:avLst/>
          </a:prstGeom>
        </p:spPr>
      </p:pic>
      <p:pic>
        <p:nvPicPr>
          <p:cNvPr id="3" name="Freeform 3"/>
          <p:cNvPicPr>
            <a:picLocks noChangeAspect="0"/>
          </p:cNvPicPr>
          <p:nvPr/>
        </p:nvPicPr>
        <p:blipFill>
          <a:blip r:embed="rIdPic2"/>
          <a:stretch>
            <a:fillRect/>
          </a:stretch>
        </p:blipFill>
        <p:spPr>
          <a:xfrm>
            <a:off x="6312051" y="5787960"/>
            <a:ext cx="5663898" cy="1225462"/>
          </a:xfrm>
          <a:prstGeom prst="rect">
            <a:avLst/>
          </a:prstGeom>
        </p:spPr>
      </p:pic>
      <p:sp>
        <p:nvSpPr>
          <p:cNvPr id="4" name="TextBox 4"/>
          <p:cNvSpPr/>
          <p:nvPr/>
        </p:nvSpPr>
        <p:spPr>
          <a:xfrm>
            <a:off x="2170282" y="2606706"/>
            <a:ext cx="13947436" cy="3350490"/>
          </a:xfrm>
          <a:prstGeom prst="rect">
            <a:avLst/>
          </a:prstGeom>
          <a:noFill/>
        </p:spPr>
        <p:txBody>
          <a:bodyPr anchor="t" wrap="square" lIns="0" rIns="0" tIns="0" bIns="0"/>
          <a:lstStyle/>
          <a:p>
            <a:pPr algn="ctr">
              <a:lnSpc>
                <a:spcPts val="24287"/>
              </a:lnSpc>
            </a:pPr>
            <a:r>
              <a:rPr sz="27599" b="0" i="0" u="none">
                <a:gradFill>
                  <a:gsLst>
                    <a:gs pos="0">
                      <a:srgbClr val="FFFFFF"/>
                    </a:gs>
                    <a:gs pos="50000">
                      <a:srgbClr val="0085FF"/>
                    </a:gs>
                    <a:gs pos="100000">
                      <a:srgbClr val="CFDFFD"/>
                    </a:gs>
                  </a:gsLst>
                  <a:lin ang="0"/>
                </a:gradFill>
                <a:latin typeface="Anton"/>
              </a:rPr>
              <a:t>QUIZ TIME</a:t>
            </a:r>
          </a:p>
        </p:txBody>
      </p:sp>
      <p:sp>
        <p:nvSpPr>
          <p:cNvPr id="5" name="TextBox 5"/>
          <p:cNvSpPr/>
          <p:nvPr/>
        </p:nvSpPr>
        <p:spPr>
          <a:xfrm>
            <a:off x="7618015" y="6056539"/>
            <a:ext cx="3051970" cy="695325"/>
          </a:xfrm>
          <a:prstGeom prst="rect">
            <a:avLst/>
          </a:prstGeom>
          <a:noFill/>
        </p:spPr>
        <p:txBody>
          <a:bodyPr anchor="t" wrap="square" lIns="0" rIns="0" tIns="0" bIns="0"/>
          <a:lstStyle/>
          <a:p>
            <a:pPr algn="ctr">
              <a:lnSpc>
                <a:spcPts val="5415"/>
              </a:lnSpc>
            </a:pPr>
            <a:r>
              <a:rPr sz="4512" b="0" i="0" u="none">
                <a:solidFill>
                  <a:srgbClr val="FFFFFF"/>
                </a:solidFill>
                <a:latin typeface="Anton"/>
              </a:rPr>
              <a:t>START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 name="Freeform 2"/>
          <p:cNvPicPr>
            <a:picLocks noChangeAspect="0"/>
          </p:cNvPicPr>
          <p:nvPr/>
        </p:nvPicPr>
        <p:blipFill>
          <a:blip r:embed="rIdPic1"/>
          <a:stretch>
            <a:fillRect/>
          </a:stretch>
        </p:blipFill>
        <p:spPr>
          <a:xfrm>
            <a:off x="0" y="0"/>
            <a:ext cx="18288000" cy="10287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 name="Freeform 2"/>
          <p:cNvPicPr>
            <a:picLocks noChangeAspect="0"/>
          </p:cNvPicPr>
          <p:nvPr/>
        </p:nvPicPr>
        <p:blipFill>
          <a:blip r:embed="rIdPic1"/>
          <a:stretch>
            <a:fillRect/>
          </a:stretch>
        </p:blipFill>
        <p:spPr>
          <a:xfrm>
            <a:off x="0" y="0"/>
            <a:ext cx="18288000" cy="10287000"/>
          </a:xfrm>
          <a:prstGeom prst="rect">
            <a:avLst/>
          </a:prstGeom>
        </p:spPr>
      </p:pic>
      <p:sp>
        <p:nvSpPr>
          <p:cNvPr id="3" name="Freeform 4"/>
          <p:cNvSpPr/>
          <p:nvPr/>
        </p:nvSpPr>
        <p:spPr>
          <a:xfrm>
            <a:off x="1028700" y="1028700"/>
            <a:ext cx="16230600" cy="8229600"/>
          </a:xfrm>
          <a:custGeom>
            <a:avLst/>
            <a:gdLst/>
            <a:ahLst/>
            <a:cxnLst/>
            <a:rect l="l" t="t" r="r" b="b"/>
            <a:pathLst>
              <a:path w="3418644" h="1733397">
                <a:moveTo>
                  <a:pt x="24327" y="0"/>
                </a:moveTo>
                <a:lnTo>
                  <a:pt x="3394317" y="0"/>
                </a:lnTo>
                <a:cubicBezTo>
                  <a:pt x="3407752" y="0"/>
                  <a:pt x="3418644" y="10891"/>
                  <a:pt x="3418644" y="24327"/>
                </a:cubicBezTo>
                <a:lnTo>
                  <a:pt x="3418644" y="1709070"/>
                </a:lnTo>
                <a:cubicBezTo>
                  <a:pt x="3418644" y="1722506"/>
                  <a:pt x="3407752" y="1733397"/>
                  <a:pt x="3394317" y="1733397"/>
                </a:cubicBezTo>
                <a:lnTo>
                  <a:pt x="24327" y="1733397"/>
                </a:lnTo>
                <a:cubicBezTo>
                  <a:pt x="10891" y="1733397"/>
                  <a:pt x="0" y="1722506"/>
                  <a:pt x="0" y="1709070"/>
                </a:cubicBezTo>
                <a:lnTo>
                  <a:pt x="0" y="24327"/>
                </a:lnTo>
                <a:cubicBezTo>
                  <a:pt x="0" y="10891"/>
                  <a:pt x="10891" y="0"/>
                  <a:pt x="24327" y="0"/>
                </a:cubicBezTo>
                <a:close/>
              </a:path>
            </a:pathLst>
          </a:custGeom>
          <a:gradFill rotWithShape="1">
            <a:gsLst>
              <a:gs pos="0">
                <a:srgbClr val="193FC4">
                  <a:alpha val="64000"/>
                </a:srgbClr>
              </a:gs>
              <a:gs pos="100000">
                <a:srgbClr val="2787F8">
                  <a:alpha val="64000"/>
                </a:srgbClr>
              </a:gs>
            </a:gsLst>
            <a:lin ang="5400000"/>
          </a:gradFill>
          <a:ln w="12700">
            <a:solidFill>
              <a:srgbClr val="000000"/>
            </a:solidFill>
          </a:ln>
        </p:spPr>
      </p:sp>
      <p:sp>
        <p:nvSpPr>
          <p:cNvPr id="4" name="TextBox 5"/>
          <p:cNvSpPr/>
          <p:nvPr/>
        </p:nvSpPr>
        <p:spPr>
          <a:xfrm>
            <a:off x="1028700" y="847813"/>
            <a:ext cx="16230600" cy="8410487"/>
          </a:xfrm>
          <a:prstGeom prst="rect">
            <a:avLst/>
          </a:prstGeom>
          <a:noFill/>
        </p:spPr>
      </p:sp>
      <p:sp>
        <p:nvSpPr>
          <p:cNvPr id="5" name="TextBox 6"/>
          <p:cNvSpPr/>
          <p:nvPr/>
        </p:nvSpPr>
        <p:spPr>
          <a:xfrm>
            <a:off x="1766950" y="1292301"/>
            <a:ext cx="14754101" cy="1623928"/>
          </a:xfrm>
          <a:prstGeom prst="rect">
            <a:avLst/>
          </a:prstGeom>
          <a:noFill/>
        </p:spPr>
        <p:txBody>
          <a:bodyPr anchor="t" wrap="square" lIns="0" rIns="0" tIns="0" bIns="0"/>
          <a:lstStyle/>
          <a:p>
            <a:pPr algn="just">
              <a:lnSpc>
                <a:spcPts val="6567"/>
              </a:lnSpc>
            </a:pPr>
            <a:r>
              <a:rPr sz="4690" b="0" i="0" u="none">
                <a:solidFill>
                  <a:srgbClr val="FFFFFF"/>
                </a:solidFill>
                <a:latin typeface="Anton"/>
              </a:rPr>
              <a:t>HỘI NHẬP KINH TẾ QUỐC TẾ LÀ QUÁ TRÌNH MỘT QUỐC GIA THỰC HIỆN ĐIỀU GÌ?</a:t>
            </a:r>
          </a:p>
        </p:txBody>
      </p:sp>
      <p:sp>
        <p:nvSpPr>
          <p:cNvPr id="6" name="TextBox 7"/>
          <p:cNvSpPr/>
          <p:nvPr/>
        </p:nvSpPr>
        <p:spPr>
          <a:xfrm>
            <a:off x="1833625" y="4088143"/>
            <a:ext cx="5991290" cy="1368949"/>
          </a:xfrm>
          <a:prstGeom prst="rect">
            <a:avLst/>
          </a:prstGeom>
          <a:noFill/>
        </p:spPr>
        <p:txBody>
          <a:bodyPr anchor="t" wrap="square" lIns="0" rIns="0" tIns="0" bIns="0"/>
          <a:lstStyle/>
          <a:p>
            <a:pPr algn="just">
              <a:lnSpc>
                <a:spcPts val="5680"/>
              </a:lnSpc>
            </a:pPr>
            <a:r>
              <a:rPr sz="3341" b="0" i="0" u="none">
                <a:solidFill>
                  <a:srgbClr val="FFFFFF"/>
                </a:solidFill>
                <a:latin typeface="Anton"/>
              </a:rPr>
              <a:t>A. CHỈ TẬP TRUNG PHÁT TRIỂN KINH TẾ TRONG NƯỚC.</a:t>
            </a:r>
          </a:p>
        </p:txBody>
      </p:sp>
      <p:sp>
        <p:nvSpPr>
          <p:cNvPr id="7" name="TextBox 8"/>
          <p:cNvSpPr/>
          <p:nvPr/>
        </p:nvSpPr>
        <p:spPr>
          <a:xfrm>
            <a:off x="8519580" y="4078618"/>
            <a:ext cx="8439594" cy="1378585"/>
          </a:xfrm>
          <a:prstGeom prst="rect">
            <a:avLst/>
          </a:prstGeom>
          <a:noFill/>
        </p:spPr>
        <p:txBody>
          <a:bodyPr anchor="t" wrap="square" lIns="0" rIns="0" tIns="0" bIns="0"/>
          <a:lstStyle/>
          <a:p>
            <a:pPr algn="just">
              <a:lnSpc>
                <a:spcPts val="5677"/>
              </a:lnSpc>
            </a:pPr>
            <a:r>
              <a:rPr sz="3339" b="0" i="0" u="none">
                <a:solidFill>
                  <a:srgbClr val="FFFFFF"/>
                </a:solidFill>
                <a:latin typeface="Anton"/>
              </a:rPr>
              <a:t>B. GẮN KẾT NỀN KINH TẾ CỦA MÌNH VỚI NỀN KINH TẾ CÁC QUỐC GIA KHÁC VÀ CÁC TỔ CHỨC KINH TẾ QUỐC TẾ.</a:t>
            </a:r>
          </a:p>
        </p:txBody>
      </p:sp>
      <p:sp>
        <p:nvSpPr>
          <p:cNvPr id="8" name="TextBox 9"/>
          <p:cNvSpPr/>
          <p:nvPr/>
        </p:nvSpPr>
        <p:spPr>
          <a:xfrm>
            <a:off x="1833625" y="5913103"/>
            <a:ext cx="5991290" cy="1368903"/>
          </a:xfrm>
          <a:prstGeom prst="rect">
            <a:avLst/>
          </a:prstGeom>
          <a:noFill/>
        </p:spPr>
        <p:txBody>
          <a:bodyPr anchor="t" wrap="square" lIns="0" rIns="0" tIns="0" bIns="0"/>
          <a:lstStyle/>
          <a:p>
            <a:pPr algn="just">
              <a:lnSpc>
                <a:spcPts val="5682"/>
              </a:lnSpc>
            </a:pPr>
            <a:r>
              <a:rPr sz="3341" b="0" i="0" u="none">
                <a:solidFill>
                  <a:srgbClr val="FFFFFF"/>
                </a:solidFill>
                <a:latin typeface="Anton"/>
              </a:rPr>
              <a:t>C. HẠN CHẾ MỌI HOẠT ĐỘNG TRAO ĐỔI HÀNG HÓA VỚI NƯỚC NGOÀI.</a:t>
            </a:r>
          </a:p>
        </p:txBody>
      </p:sp>
      <p:sp>
        <p:nvSpPr>
          <p:cNvPr id="9" name="TextBox 10"/>
          <p:cNvSpPr/>
          <p:nvPr/>
        </p:nvSpPr>
        <p:spPr>
          <a:xfrm>
            <a:off x="8519580" y="5903578"/>
            <a:ext cx="8439594" cy="664209"/>
          </a:xfrm>
          <a:prstGeom prst="rect">
            <a:avLst/>
          </a:prstGeom>
          <a:noFill/>
        </p:spPr>
        <p:txBody>
          <a:bodyPr anchor="t" wrap="square" lIns="0" rIns="0" tIns="0" bIns="0"/>
          <a:lstStyle/>
          <a:p>
            <a:pPr algn="just">
              <a:lnSpc>
                <a:spcPts val="5677"/>
              </a:lnSpc>
            </a:pPr>
            <a:r>
              <a:rPr sz="3339" b="0" i="0" u="none">
                <a:solidFill>
                  <a:srgbClr val="FFFFFF"/>
                </a:solidFill>
                <a:latin typeface="Anton"/>
              </a:rPr>
              <a:t>D. TÁCH</a:t>
            </a:r>
            <a:r>
              <a:rPr sz="3339" b="0" i="0" u="none">
                <a:solidFill>
                  <a:srgbClr val="FFFFFF"/>
                </a:solidFill>
                <a:latin typeface="Anton"/>
              </a:rPr>
              <a:t> BIỆT NỀN KINH TẾ VỚI THỊ TRƯỜNG QUỐC TẾ.</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 name="Freeform 2"/>
          <p:cNvPicPr>
            <a:picLocks noChangeAspect="0"/>
          </p:cNvPicPr>
          <p:nvPr/>
        </p:nvPicPr>
        <p:blipFill>
          <a:blip r:embed="rIdPic1"/>
          <a:stretch>
            <a:fillRect/>
          </a:stretch>
        </p:blipFill>
        <p:spPr>
          <a:xfrm>
            <a:off x="0" y="0"/>
            <a:ext cx="18288000" cy="10287000"/>
          </a:xfrm>
          <a:prstGeom prst="rect">
            <a:avLst/>
          </a:prstGeom>
        </p:spPr>
      </p:pic>
      <p:sp>
        <p:nvSpPr>
          <p:cNvPr id="3" name="Freeform 4"/>
          <p:cNvSpPr/>
          <p:nvPr/>
        </p:nvSpPr>
        <p:spPr>
          <a:xfrm>
            <a:off x="1028700" y="1028700"/>
            <a:ext cx="16230600" cy="8229600"/>
          </a:xfrm>
          <a:custGeom>
            <a:avLst/>
            <a:gdLst/>
            <a:ahLst/>
            <a:cxnLst/>
            <a:rect l="l" t="t" r="r" b="b"/>
            <a:pathLst>
              <a:path w="3418644" h="1733397">
                <a:moveTo>
                  <a:pt x="24327" y="0"/>
                </a:moveTo>
                <a:lnTo>
                  <a:pt x="3394317" y="0"/>
                </a:lnTo>
                <a:cubicBezTo>
                  <a:pt x="3407752" y="0"/>
                  <a:pt x="3418644" y="10891"/>
                  <a:pt x="3418644" y="24327"/>
                </a:cubicBezTo>
                <a:lnTo>
                  <a:pt x="3418644" y="1709070"/>
                </a:lnTo>
                <a:cubicBezTo>
                  <a:pt x="3418644" y="1722506"/>
                  <a:pt x="3407752" y="1733397"/>
                  <a:pt x="3394317" y="1733397"/>
                </a:cubicBezTo>
                <a:lnTo>
                  <a:pt x="24327" y="1733397"/>
                </a:lnTo>
                <a:cubicBezTo>
                  <a:pt x="10891" y="1733397"/>
                  <a:pt x="0" y="1722506"/>
                  <a:pt x="0" y="1709070"/>
                </a:cubicBezTo>
                <a:lnTo>
                  <a:pt x="0" y="24327"/>
                </a:lnTo>
                <a:cubicBezTo>
                  <a:pt x="0" y="10891"/>
                  <a:pt x="10891" y="0"/>
                  <a:pt x="24327" y="0"/>
                </a:cubicBezTo>
                <a:close/>
              </a:path>
            </a:pathLst>
          </a:custGeom>
          <a:gradFill rotWithShape="1">
            <a:gsLst>
              <a:gs pos="0">
                <a:srgbClr val="193FC4">
                  <a:alpha val="64000"/>
                </a:srgbClr>
              </a:gs>
              <a:gs pos="100000">
                <a:srgbClr val="2787F8">
                  <a:alpha val="64000"/>
                </a:srgbClr>
              </a:gs>
            </a:gsLst>
            <a:lin ang="5400000"/>
          </a:gradFill>
          <a:ln w="12700">
            <a:solidFill>
              <a:srgbClr val="000000"/>
            </a:solidFill>
          </a:ln>
        </p:spPr>
      </p:sp>
      <p:sp>
        <p:nvSpPr>
          <p:cNvPr id="4" name="TextBox 5"/>
          <p:cNvSpPr/>
          <p:nvPr/>
        </p:nvSpPr>
        <p:spPr>
          <a:xfrm>
            <a:off x="1028700" y="847813"/>
            <a:ext cx="16230600" cy="8410487"/>
          </a:xfrm>
          <a:prstGeom prst="rect">
            <a:avLst/>
          </a:prstGeom>
          <a:noFill/>
        </p:spPr>
      </p:sp>
      <p:sp>
        <p:nvSpPr>
          <p:cNvPr id="5" name="TextBox 6"/>
          <p:cNvSpPr/>
          <p:nvPr/>
        </p:nvSpPr>
        <p:spPr>
          <a:xfrm>
            <a:off x="1766950" y="1292301"/>
            <a:ext cx="14754101" cy="1623928"/>
          </a:xfrm>
          <a:prstGeom prst="rect">
            <a:avLst/>
          </a:prstGeom>
          <a:noFill/>
        </p:spPr>
        <p:txBody>
          <a:bodyPr anchor="t" wrap="square" lIns="0" rIns="0" tIns="0" bIns="0"/>
          <a:lstStyle/>
          <a:p>
            <a:pPr algn="just">
              <a:lnSpc>
                <a:spcPts val="6567"/>
              </a:lnSpc>
            </a:pPr>
            <a:r>
              <a:rPr sz="4690" b="0" i="0" u="none">
                <a:solidFill>
                  <a:srgbClr val="FFFFFF"/>
                </a:solidFill>
                <a:latin typeface="Anton"/>
              </a:rPr>
              <a:t>HỘI NHẬP KINH TẾ QUỐC TẾ LÀ QUÁ TRÌNH MỘT QUỐC GIA THỰC HIỆN ĐIỀU GÌ?</a:t>
            </a:r>
          </a:p>
        </p:txBody>
      </p:sp>
      <p:sp>
        <p:nvSpPr>
          <p:cNvPr id="6" name="TextBox 7"/>
          <p:cNvSpPr/>
          <p:nvPr/>
        </p:nvSpPr>
        <p:spPr>
          <a:xfrm>
            <a:off x="1833625" y="4088143"/>
            <a:ext cx="5991290" cy="1368949"/>
          </a:xfrm>
          <a:prstGeom prst="rect">
            <a:avLst/>
          </a:prstGeom>
          <a:noFill/>
        </p:spPr>
        <p:txBody>
          <a:bodyPr anchor="t" wrap="square" lIns="0" rIns="0" tIns="0" bIns="0"/>
          <a:lstStyle/>
          <a:p>
            <a:pPr algn="just">
              <a:lnSpc>
                <a:spcPts val="5680"/>
              </a:lnSpc>
            </a:pPr>
            <a:r>
              <a:rPr sz="3341" b="0" i="0" u="none">
                <a:solidFill>
                  <a:srgbClr val="FFFFFF"/>
                </a:solidFill>
                <a:latin typeface="Anton"/>
              </a:rPr>
              <a:t>A. CHỈ TẬP TRUNG PHÁT TRIỂN KINH TẾ TRONG NƯỚC.</a:t>
            </a:r>
          </a:p>
        </p:txBody>
      </p:sp>
      <p:sp>
        <p:nvSpPr>
          <p:cNvPr id="7" name="TextBox 8"/>
          <p:cNvSpPr/>
          <p:nvPr/>
        </p:nvSpPr>
        <p:spPr>
          <a:xfrm>
            <a:off x="8519580" y="4078618"/>
            <a:ext cx="8439594" cy="1378585"/>
          </a:xfrm>
          <a:prstGeom prst="rect">
            <a:avLst/>
          </a:prstGeom>
          <a:noFill/>
        </p:spPr>
        <p:txBody>
          <a:bodyPr anchor="t" wrap="square" lIns="0" rIns="0" tIns="0" bIns="0"/>
          <a:lstStyle/>
          <a:p>
            <a:pPr algn="just">
              <a:lnSpc>
                <a:spcPts val="5677"/>
              </a:lnSpc>
            </a:pPr>
            <a:r>
              <a:rPr sz="3339" b="0" i="0" u="none">
                <a:solidFill>
                  <a:srgbClr val="FFD100"/>
                </a:solidFill>
                <a:latin typeface="Anton"/>
              </a:rPr>
              <a:t>B. GẮN KẾT NỀN KINH TẾ CỦA MÌNH VỚI NỀN KINH TẾ CÁC QUỐC GIA KHÁC VÀ CÁC TỔ CHỨC KINH TẾ QUỐC TẾ.</a:t>
            </a:r>
          </a:p>
        </p:txBody>
      </p:sp>
      <p:sp>
        <p:nvSpPr>
          <p:cNvPr id="8" name="TextBox 9"/>
          <p:cNvSpPr/>
          <p:nvPr/>
        </p:nvSpPr>
        <p:spPr>
          <a:xfrm>
            <a:off x="1833625" y="5913103"/>
            <a:ext cx="5991290" cy="1368903"/>
          </a:xfrm>
          <a:prstGeom prst="rect">
            <a:avLst/>
          </a:prstGeom>
          <a:noFill/>
        </p:spPr>
        <p:txBody>
          <a:bodyPr anchor="t" wrap="square" lIns="0" rIns="0" tIns="0" bIns="0"/>
          <a:lstStyle/>
          <a:p>
            <a:pPr algn="just">
              <a:lnSpc>
                <a:spcPts val="5682"/>
              </a:lnSpc>
            </a:pPr>
            <a:r>
              <a:rPr sz="3341" b="0" i="0" u="none">
                <a:solidFill>
                  <a:srgbClr val="FFFFFF"/>
                </a:solidFill>
                <a:latin typeface="Anton"/>
              </a:rPr>
              <a:t>C. HẠN CHẾ MỌI HOẠT ĐỘNG TRAO ĐỔI HÀNG HÓA VỚI NƯỚC NGOÀI.</a:t>
            </a:r>
          </a:p>
        </p:txBody>
      </p:sp>
      <p:sp>
        <p:nvSpPr>
          <p:cNvPr id="9" name="TextBox 10"/>
          <p:cNvSpPr/>
          <p:nvPr/>
        </p:nvSpPr>
        <p:spPr>
          <a:xfrm>
            <a:off x="8519580" y="5903578"/>
            <a:ext cx="8439594" cy="664209"/>
          </a:xfrm>
          <a:prstGeom prst="rect">
            <a:avLst/>
          </a:prstGeom>
          <a:noFill/>
        </p:spPr>
        <p:txBody>
          <a:bodyPr anchor="t" wrap="square" lIns="0" rIns="0" tIns="0" bIns="0"/>
          <a:lstStyle/>
          <a:p>
            <a:pPr algn="just">
              <a:lnSpc>
                <a:spcPts val="5677"/>
              </a:lnSpc>
            </a:pPr>
            <a:r>
              <a:rPr sz="3339" b="0" i="0" u="none">
                <a:solidFill>
                  <a:srgbClr val="FFFFFF"/>
                </a:solidFill>
                <a:latin typeface="Anton"/>
              </a:rPr>
              <a:t>D. TÁCH</a:t>
            </a:r>
            <a:r>
              <a:rPr sz="3339" b="0" i="0" u="none">
                <a:solidFill>
                  <a:srgbClr val="FFFFFF"/>
                </a:solidFill>
                <a:latin typeface="Anton"/>
              </a:rPr>
              <a:t> BIỆT NỀN KINH TẾ VỚI THỊ TRƯỜNG QUỐC TẾ.</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 name="Freeform 2"/>
          <p:cNvPicPr>
            <a:picLocks noChangeAspect="0"/>
          </p:cNvPicPr>
          <p:nvPr/>
        </p:nvPicPr>
        <p:blipFill>
          <a:blip r:embed="rIdPic1"/>
          <a:stretch>
            <a:fillRect/>
          </a:stretch>
        </p:blipFill>
        <p:spPr>
          <a:xfrm>
            <a:off x="0" y="0"/>
            <a:ext cx="18288000" cy="10287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 name="Freeform 2"/>
          <p:cNvPicPr>
            <a:picLocks noChangeAspect="0"/>
          </p:cNvPicPr>
          <p:nvPr/>
        </p:nvPicPr>
        <p:blipFill>
          <a:blip r:embed="rIdPic1"/>
          <a:stretch>
            <a:fillRect/>
          </a:stretch>
        </p:blipFill>
        <p:spPr>
          <a:xfrm>
            <a:off x="0" y="0"/>
            <a:ext cx="18288000" cy="10287000"/>
          </a:xfrm>
          <a:prstGeom prst="rect">
            <a:avLst/>
          </a:prstGeom>
        </p:spPr>
      </p:pic>
      <p:sp>
        <p:nvSpPr>
          <p:cNvPr id="3" name="Freeform 4"/>
          <p:cNvSpPr/>
          <p:nvPr/>
        </p:nvSpPr>
        <p:spPr>
          <a:xfrm>
            <a:off x="1028700" y="1028700"/>
            <a:ext cx="16230600" cy="8229600"/>
          </a:xfrm>
          <a:custGeom>
            <a:avLst/>
            <a:gdLst/>
            <a:ahLst/>
            <a:cxnLst/>
            <a:rect l="l" t="t" r="r" b="b"/>
            <a:pathLst>
              <a:path w="3418644" h="1733397">
                <a:moveTo>
                  <a:pt x="24327" y="0"/>
                </a:moveTo>
                <a:lnTo>
                  <a:pt x="3394317" y="0"/>
                </a:lnTo>
                <a:cubicBezTo>
                  <a:pt x="3407752" y="0"/>
                  <a:pt x="3418644" y="10891"/>
                  <a:pt x="3418644" y="24327"/>
                </a:cubicBezTo>
                <a:lnTo>
                  <a:pt x="3418644" y="1709070"/>
                </a:lnTo>
                <a:cubicBezTo>
                  <a:pt x="3418644" y="1722506"/>
                  <a:pt x="3407752" y="1733397"/>
                  <a:pt x="3394317" y="1733397"/>
                </a:cubicBezTo>
                <a:lnTo>
                  <a:pt x="24327" y="1733397"/>
                </a:lnTo>
                <a:cubicBezTo>
                  <a:pt x="10891" y="1733397"/>
                  <a:pt x="0" y="1722506"/>
                  <a:pt x="0" y="1709070"/>
                </a:cubicBezTo>
                <a:lnTo>
                  <a:pt x="0" y="24327"/>
                </a:lnTo>
                <a:cubicBezTo>
                  <a:pt x="0" y="10891"/>
                  <a:pt x="10891" y="0"/>
                  <a:pt x="24327" y="0"/>
                </a:cubicBezTo>
                <a:close/>
              </a:path>
            </a:pathLst>
          </a:custGeom>
          <a:gradFill rotWithShape="1">
            <a:gsLst>
              <a:gs pos="0">
                <a:srgbClr val="193FC4">
                  <a:alpha val="64000"/>
                </a:srgbClr>
              </a:gs>
              <a:gs pos="100000">
                <a:srgbClr val="2787F8">
                  <a:alpha val="64000"/>
                </a:srgbClr>
              </a:gs>
            </a:gsLst>
            <a:lin ang="5400000"/>
          </a:gradFill>
          <a:ln w="12700">
            <a:solidFill>
              <a:srgbClr val="000000"/>
            </a:solidFill>
          </a:ln>
        </p:spPr>
      </p:sp>
      <p:sp>
        <p:nvSpPr>
          <p:cNvPr id="4" name="TextBox 5"/>
          <p:cNvSpPr/>
          <p:nvPr/>
        </p:nvSpPr>
        <p:spPr>
          <a:xfrm>
            <a:off x="1028700" y="847813"/>
            <a:ext cx="16230600" cy="8410487"/>
          </a:xfrm>
          <a:prstGeom prst="rect">
            <a:avLst/>
          </a:prstGeom>
          <a:noFill/>
        </p:spPr>
      </p:sp>
      <p:sp>
        <p:nvSpPr>
          <p:cNvPr id="5" name="TextBox 6"/>
          <p:cNvSpPr/>
          <p:nvPr/>
        </p:nvSpPr>
        <p:spPr>
          <a:xfrm>
            <a:off x="1766950" y="1292301"/>
            <a:ext cx="14754101" cy="1623928"/>
          </a:xfrm>
          <a:prstGeom prst="rect">
            <a:avLst/>
          </a:prstGeom>
          <a:noFill/>
        </p:spPr>
        <p:txBody>
          <a:bodyPr anchor="t" wrap="square" lIns="0" rIns="0" tIns="0" bIns="0"/>
          <a:lstStyle/>
          <a:p>
            <a:pPr algn="just">
              <a:lnSpc>
                <a:spcPts val="6567"/>
              </a:lnSpc>
            </a:pPr>
            <a:r>
              <a:rPr sz="4690" b="0" i="0" u="none">
                <a:solidFill>
                  <a:srgbClr val="FFFFFF"/>
                </a:solidFill>
                <a:latin typeface="Anton"/>
              </a:rPr>
              <a:t>N</a:t>
            </a:r>
            <a:r>
              <a:rPr sz="4690" b="0" i="0" u="none">
                <a:solidFill>
                  <a:srgbClr val="FFFFFF"/>
                </a:solidFill>
                <a:latin typeface="Anton"/>
              </a:rPr>
              <a:t>ỘI DUNG NÀO SAU ĐÂY THỂ HIỆN ĐÚNG VỀ HỘI NHẬP KINH TẾ QUỐC TẾ?</a:t>
            </a:r>
          </a:p>
        </p:txBody>
      </p:sp>
      <p:sp>
        <p:nvSpPr>
          <p:cNvPr id="6" name="TextBox 7"/>
          <p:cNvSpPr/>
          <p:nvPr/>
        </p:nvSpPr>
        <p:spPr>
          <a:xfrm>
            <a:off x="1833625" y="4088143"/>
            <a:ext cx="6302760" cy="1368949"/>
          </a:xfrm>
          <a:prstGeom prst="rect">
            <a:avLst/>
          </a:prstGeom>
          <a:noFill/>
        </p:spPr>
        <p:txBody>
          <a:bodyPr anchor="t" wrap="square" lIns="0" rIns="0" tIns="0" bIns="0"/>
          <a:lstStyle/>
          <a:p>
            <a:pPr algn="just">
              <a:lnSpc>
                <a:spcPts val="5680"/>
              </a:lnSpc>
            </a:pPr>
            <a:r>
              <a:rPr sz="3341" b="0" i="0" u="none">
                <a:solidFill>
                  <a:srgbClr val="FFFFFF"/>
                </a:solidFill>
                <a:latin typeface="Anton"/>
              </a:rPr>
              <a:t>A. LÀM GIẢM SỰ LIÊN KẾT KINH TẾ GIỮA CÁC QUỐC GIA.</a:t>
            </a:r>
          </a:p>
        </p:txBody>
      </p:sp>
      <p:sp>
        <p:nvSpPr>
          <p:cNvPr id="7" name="TextBox 8"/>
          <p:cNvSpPr/>
          <p:nvPr/>
        </p:nvSpPr>
        <p:spPr>
          <a:xfrm>
            <a:off x="8519580" y="4078618"/>
            <a:ext cx="8439594" cy="1378585"/>
          </a:xfrm>
          <a:prstGeom prst="rect">
            <a:avLst/>
          </a:prstGeom>
          <a:noFill/>
        </p:spPr>
        <p:txBody>
          <a:bodyPr anchor="t" wrap="square" lIns="0" rIns="0" tIns="0" bIns="0"/>
          <a:lstStyle/>
          <a:p>
            <a:pPr algn="just">
              <a:lnSpc>
                <a:spcPts val="5677"/>
              </a:lnSpc>
            </a:pPr>
            <a:r>
              <a:rPr sz="3339" b="0" i="0" u="none">
                <a:solidFill>
                  <a:srgbClr val="FFFFFF"/>
                </a:solidFill>
                <a:latin typeface="Anton"/>
              </a:rPr>
              <a:t>B. CHỈ LIÊN QUAN ĐẾN HOẠT ĐỘNG XUẤT KHẨU HÀNG HÓA.</a:t>
            </a:r>
          </a:p>
        </p:txBody>
      </p:sp>
      <p:sp>
        <p:nvSpPr>
          <p:cNvPr id="8" name="TextBox 9"/>
          <p:cNvSpPr/>
          <p:nvPr/>
        </p:nvSpPr>
        <p:spPr>
          <a:xfrm>
            <a:off x="1833625" y="5913103"/>
            <a:ext cx="6302760" cy="2083278"/>
          </a:xfrm>
          <a:prstGeom prst="rect">
            <a:avLst/>
          </a:prstGeom>
          <a:noFill/>
        </p:spPr>
        <p:txBody>
          <a:bodyPr anchor="t" wrap="square" lIns="0" rIns="0" tIns="0" bIns="0"/>
          <a:lstStyle/>
          <a:p>
            <a:pPr algn="just">
              <a:lnSpc>
                <a:spcPts val="5682"/>
              </a:lnSpc>
            </a:pPr>
            <a:r>
              <a:rPr sz="3341" b="0" i="0" u="none">
                <a:solidFill>
                  <a:srgbClr val="FFFFFF"/>
                </a:solidFill>
                <a:latin typeface="Anton"/>
              </a:rPr>
              <a:t>C. LÀ QUÁ TRÌNH MỞ RỘNG VÀ TĂNG CƯỜNG QUAN HỆ KINH TẾ GIỮA CÁC QUỐC GIA.</a:t>
            </a:r>
          </a:p>
        </p:txBody>
      </p:sp>
      <p:sp>
        <p:nvSpPr>
          <p:cNvPr id="9" name="TextBox 10"/>
          <p:cNvSpPr/>
          <p:nvPr/>
        </p:nvSpPr>
        <p:spPr>
          <a:xfrm>
            <a:off x="8519580" y="5903578"/>
            <a:ext cx="8439594" cy="1378585"/>
          </a:xfrm>
          <a:prstGeom prst="rect">
            <a:avLst/>
          </a:prstGeom>
          <a:noFill/>
        </p:spPr>
        <p:txBody>
          <a:bodyPr anchor="t" wrap="square" lIns="0" rIns="0" tIns="0" bIns="0"/>
          <a:lstStyle/>
          <a:p>
            <a:pPr algn="just">
              <a:lnSpc>
                <a:spcPts val="5677"/>
              </a:lnSpc>
            </a:pPr>
            <a:r>
              <a:rPr sz="3339" b="0" i="0" u="none">
                <a:solidFill>
                  <a:srgbClr val="FFFFFF"/>
                </a:solidFill>
                <a:latin typeface="Anton"/>
              </a:rPr>
              <a:t>D. LÀ VIỆC MỘT QUỐC GIA PHỤ THUỘC HOÀN</a:t>
            </a:r>
            <a:r>
              <a:rPr sz="3339" b="0" i="0" u="none">
                <a:solidFill>
                  <a:srgbClr val="FFFFFF"/>
                </a:solidFill>
                <a:latin typeface="Anton"/>
              </a:rPr>
              <a:t> TOÀN VÀO NỀN KINH TẾ NƯỚC NGOÀI.</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 name="Freeform 2"/>
          <p:cNvPicPr>
            <a:picLocks noChangeAspect="0"/>
          </p:cNvPicPr>
          <p:nvPr/>
        </p:nvPicPr>
        <p:blipFill>
          <a:blip r:embed="rIdPic1"/>
          <a:stretch>
            <a:fillRect/>
          </a:stretch>
        </p:blipFill>
        <p:spPr>
          <a:xfrm>
            <a:off x="0" y="0"/>
            <a:ext cx="18288000" cy="10287000"/>
          </a:xfrm>
          <a:prstGeom prst="rect">
            <a:avLst/>
          </a:prstGeom>
        </p:spPr>
      </p:pic>
      <p:sp>
        <p:nvSpPr>
          <p:cNvPr id="3" name="Freeform 4"/>
          <p:cNvSpPr/>
          <p:nvPr/>
        </p:nvSpPr>
        <p:spPr>
          <a:xfrm>
            <a:off x="1028700" y="1028700"/>
            <a:ext cx="16230600" cy="8229600"/>
          </a:xfrm>
          <a:custGeom>
            <a:avLst/>
            <a:gdLst/>
            <a:ahLst/>
            <a:cxnLst/>
            <a:rect l="l" t="t" r="r" b="b"/>
            <a:pathLst>
              <a:path w="3418644" h="1733397">
                <a:moveTo>
                  <a:pt x="24327" y="0"/>
                </a:moveTo>
                <a:lnTo>
                  <a:pt x="3394317" y="0"/>
                </a:lnTo>
                <a:cubicBezTo>
                  <a:pt x="3407752" y="0"/>
                  <a:pt x="3418644" y="10891"/>
                  <a:pt x="3418644" y="24327"/>
                </a:cubicBezTo>
                <a:lnTo>
                  <a:pt x="3418644" y="1709070"/>
                </a:lnTo>
                <a:cubicBezTo>
                  <a:pt x="3418644" y="1722506"/>
                  <a:pt x="3407752" y="1733397"/>
                  <a:pt x="3394317" y="1733397"/>
                </a:cubicBezTo>
                <a:lnTo>
                  <a:pt x="24327" y="1733397"/>
                </a:lnTo>
                <a:cubicBezTo>
                  <a:pt x="10891" y="1733397"/>
                  <a:pt x="0" y="1722506"/>
                  <a:pt x="0" y="1709070"/>
                </a:cubicBezTo>
                <a:lnTo>
                  <a:pt x="0" y="24327"/>
                </a:lnTo>
                <a:cubicBezTo>
                  <a:pt x="0" y="10891"/>
                  <a:pt x="10891" y="0"/>
                  <a:pt x="24327" y="0"/>
                </a:cubicBezTo>
                <a:close/>
              </a:path>
            </a:pathLst>
          </a:custGeom>
          <a:gradFill rotWithShape="1">
            <a:gsLst>
              <a:gs pos="0">
                <a:srgbClr val="193FC4">
                  <a:alpha val="64000"/>
                </a:srgbClr>
              </a:gs>
              <a:gs pos="100000">
                <a:srgbClr val="2787F8">
                  <a:alpha val="64000"/>
                </a:srgbClr>
              </a:gs>
            </a:gsLst>
            <a:lin ang="5400000"/>
          </a:gradFill>
          <a:ln w="12700">
            <a:solidFill>
              <a:srgbClr val="000000"/>
            </a:solidFill>
          </a:ln>
        </p:spPr>
      </p:sp>
      <p:sp>
        <p:nvSpPr>
          <p:cNvPr id="4" name="TextBox 5"/>
          <p:cNvSpPr/>
          <p:nvPr/>
        </p:nvSpPr>
        <p:spPr>
          <a:xfrm>
            <a:off x="1028700" y="847813"/>
            <a:ext cx="16230600" cy="8410487"/>
          </a:xfrm>
          <a:prstGeom prst="rect">
            <a:avLst/>
          </a:prstGeom>
          <a:noFill/>
        </p:spPr>
      </p:sp>
      <p:sp>
        <p:nvSpPr>
          <p:cNvPr id="5" name="TextBox 6"/>
          <p:cNvSpPr/>
          <p:nvPr/>
        </p:nvSpPr>
        <p:spPr>
          <a:xfrm>
            <a:off x="1766950" y="1292301"/>
            <a:ext cx="14754101" cy="1623928"/>
          </a:xfrm>
          <a:prstGeom prst="rect">
            <a:avLst/>
          </a:prstGeom>
          <a:noFill/>
        </p:spPr>
        <p:txBody>
          <a:bodyPr anchor="t" wrap="square" lIns="0" rIns="0" tIns="0" bIns="0"/>
          <a:lstStyle/>
          <a:p>
            <a:pPr algn="just">
              <a:lnSpc>
                <a:spcPts val="6567"/>
              </a:lnSpc>
            </a:pPr>
            <a:r>
              <a:rPr sz="4690" b="0" i="0" u="none">
                <a:solidFill>
                  <a:srgbClr val="FFFFFF"/>
                </a:solidFill>
                <a:latin typeface="Anton"/>
              </a:rPr>
              <a:t>N</a:t>
            </a:r>
            <a:r>
              <a:rPr sz="4690" b="0" i="0" u="none">
                <a:solidFill>
                  <a:srgbClr val="FFFFFF"/>
                </a:solidFill>
                <a:latin typeface="Anton"/>
              </a:rPr>
              <a:t>ỘI DUNG NÀO SAU ĐÂY THỂ HIỆN ĐÚNG VỀ HỘI NHẬP KINH TẾ QUỐC TẾ?</a:t>
            </a:r>
          </a:p>
        </p:txBody>
      </p:sp>
      <p:sp>
        <p:nvSpPr>
          <p:cNvPr id="6" name="TextBox 7"/>
          <p:cNvSpPr/>
          <p:nvPr/>
        </p:nvSpPr>
        <p:spPr>
          <a:xfrm>
            <a:off x="1833625" y="4088143"/>
            <a:ext cx="6302760" cy="1368949"/>
          </a:xfrm>
          <a:prstGeom prst="rect">
            <a:avLst/>
          </a:prstGeom>
          <a:noFill/>
        </p:spPr>
        <p:txBody>
          <a:bodyPr anchor="t" wrap="square" lIns="0" rIns="0" tIns="0" bIns="0"/>
          <a:lstStyle/>
          <a:p>
            <a:pPr algn="just">
              <a:lnSpc>
                <a:spcPts val="5680"/>
              </a:lnSpc>
            </a:pPr>
            <a:r>
              <a:rPr sz="3341" b="0" i="0" u="none">
                <a:solidFill>
                  <a:srgbClr val="FFFFFF"/>
                </a:solidFill>
                <a:latin typeface="Anton"/>
              </a:rPr>
              <a:t>A. LÀM GIẢM SỰ LIÊN KẾT KINH TẾ GIỮA CÁC QUỐC GIA.</a:t>
            </a:r>
          </a:p>
        </p:txBody>
      </p:sp>
      <p:sp>
        <p:nvSpPr>
          <p:cNvPr id="7" name="TextBox 8"/>
          <p:cNvSpPr/>
          <p:nvPr/>
        </p:nvSpPr>
        <p:spPr>
          <a:xfrm>
            <a:off x="8519580" y="4078618"/>
            <a:ext cx="8439594" cy="1378585"/>
          </a:xfrm>
          <a:prstGeom prst="rect">
            <a:avLst/>
          </a:prstGeom>
          <a:noFill/>
        </p:spPr>
        <p:txBody>
          <a:bodyPr anchor="t" wrap="square" lIns="0" rIns="0" tIns="0" bIns="0"/>
          <a:lstStyle/>
          <a:p>
            <a:pPr algn="just">
              <a:lnSpc>
                <a:spcPts val="5677"/>
              </a:lnSpc>
            </a:pPr>
            <a:r>
              <a:rPr sz="3339" b="0" i="0" u="none">
                <a:solidFill>
                  <a:srgbClr val="FFFFFF"/>
                </a:solidFill>
                <a:latin typeface="Anton"/>
              </a:rPr>
              <a:t>B. CHỈ LIÊN QUAN ĐẾN HOẠT ĐỘNG XUẤT KHẨU HÀNG HÓA.</a:t>
            </a:r>
          </a:p>
        </p:txBody>
      </p:sp>
      <p:sp>
        <p:nvSpPr>
          <p:cNvPr id="8" name="TextBox 9"/>
          <p:cNvSpPr/>
          <p:nvPr/>
        </p:nvSpPr>
        <p:spPr>
          <a:xfrm>
            <a:off x="1833625" y="5913103"/>
            <a:ext cx="6302760" cy="2083278"/>
          </a:xfrm>
          <a:prstGeom prst="rect">
            <a:avLst/>
          </a:prstGeom>
          <a:noFill/>
        </p:spPr>
        <p:txBody>
          <a:bodyPr anchor="t" wrap="square" lIns="0" rIns="0" tIns="0" bIns="0"/>
          <a:lstStyle/>
          <a:p>
            <a:pPr algn="just">
              <a:lnSpc>
                <a:spcPts val="5682"/>
              </a:lnSpc>
            </a:pPr>
            <a:r>
              <a:rPr sz="3341" b="0" i="0" u="none">
                <a:solidFill>
                  <a:srgbClr val="FFD100"/>
                </a:solidFill>
                <a:latin typeface="Anton"/>
              </a:rPr>
              <a:t>C. LÀ QUÁ TRÌNH MỞ RỘNG VÀ TĂNG CƯỜNG QUAN HỆ KINH TẾ GIỮA CÁC QUỐC GIA.</a:t>
            </a:r>
          </a:p>
        </p:txBody>
      </p:sp>
      <p:sp>
        <p:nvSpPr>
          <p:cNvPr id="9" name="TextBox 10"/>
          <p:cNvSpPr/>
          <p:nvPr/>
        </p:nvSpPr>
        <p:spPr>
          <a:xfrm>
            <a:off x="8519580" y="5903578"/>
            <a:ext cx="8439594" cy="1378585"/>
          </a:xfrm>
          <a:prstGeom prst="rect">
            <a:avLst/>
          </a:prstGeom>
          <a:noFill/>
        </p:spPr>
        <p:txBody>
          <a:bodyPr anchor="t" wrap="square" lIns="0" rIns="0" tIns="0" bIns="0"/>
          <a:lstStyle/>
          <a:p>
            <a:pPr algn="just">
              <a:lnSpc>
                <a:spcPts val="5677"/>
              </a:lnSpc>
            </a:pPr>
            <a:r>
              <a:rPr sz="3339" b="0" i="0" u="none">
                <a:solidFill>
                  <a:srgbClr val="FFFFFF"/>
                </a:solidFill>
                <a:latin typeface="Anton"/>
              </a:rPr>
              <a:t>D. LÀ VIỆC MỘT QUỐC GIA PHỤ THUỘC HOÀN</a:t>
            </a:r>
            <a:r>
              <a:rPr sz="3339" b="0" i="0" u="none">
                <a:solidFill>
                  <a:srgbClr val="FFFFFF"/>
                </a:solidFill>
                <a:latin typeface="Anton"/>
              </a:rPr>
              <a:t> TOÀN VÀO NỀN KINH TẾ NƯỚC NGOÀI.</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 name="Freeform 2"/>
          <p:cNvPicPr>
            <a:picLocks noChangeAspect="0"/>
          </p:cNvPicPr>
          <p:nvPr/>
        </p:nvPicPr>
        <p:blipFill>
          <a:blip r:embed="rIdPic1"/>
          <a:stretch>
            <a:fillRect/>
          </a:stretch>
        </p:blipFill>
        <p:spPr>
          <a:xfrm>
            <a:off x="0" y="0"/>
            <a:ext cx="18288000" cy="10287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 name="Freeform 2"/>
          <p:cNvPicPr>
            <a:picLocks noChangeAspect="0"/>
          </p:cNvPicPr>
          <p:nvPr/>
        </p:nvPicPr>
        <p:blipFill>
          <a:blip r:embed="rIdPic1"/>
          <a:stretch>
            <a:fillRect/>
          </a:stretch>
        </p:blipFill>
        <p:spPr>
          <a:xfrm>
            <a:off x="0" y="0"/>
            <a:ext cx="18288000" cy="10287000"/>
          </a:xfrm>
          <a:prstGeom prst="rect">
            <a:avLst/>
          </a:prstGeom>
        </p:spPr>
      </p:pic>
      <p:sp>
        <p:nvSpPr>
          <p:cNvPr id="3" name="Freeform 4"/>
          <p:cNvSpPr/>
          <p:nvPr/>
        </p:nvSpPr>
        <p:spPr>
          <a:xfrm>
            <a:off x="1028700" y="1028700"/>
            <a:ext cx="16230600" cy="8229600"/>
          </a:xfrm>
          <a:custGeom>
            <a:avLst/>
            <a:gdLst/>
            <a:ahLst/>
            <a:cxnLst/>
            <a:rect l="l" t="t" r="r" b="b"/>
            <a:pathLst>
              <a:path w="3418644" h="1733397">
                <a:moveTo>
                  <a:pt x="24327" y="0"/>
                </a:moveTo>
                <a:lnTo>
                  <a:pt x="3394317" y="0"/>
                </a:lnTo>
                <a:cubicBezTo>
                  <a:pt x="3407752" y="0"/>
                  <a:pt x="3418644" y="10891"/>
                  <a:pt x="3418644" y="24327"/>
                </a:cubicBezTo>
                <a:lnTo>
                  <a:pt x="3418644" y="1709070"/>
                </a:lnTo>
                <a:cubicBezTo>
                  <a:pt x="3418644" y="1722506"/>
                  <a:pt x="3407752" y="1733397"/>
                  <a:pt x="3394317" y="1733397"/>
                </a:cubicBezTo>
                <a:lnTo>
                  <a:pt x="24327" y="1733397"/>
                </a:lnTo>
                <a:cubicBezTo>
                  <a:pt x="10891" y="1733397"/>
                  <a:pt x="0" y="1722506"/>
                  <a:pt x="0" y="1709070"/>
                </a:cubicBezTo>
                <a:lnTo>
                  <a:pt x="0" y="24327"/>
                </a:lnTo>
                <a:cubicBezTo>
                  <a:pt x="0" y="10891"/>
                  <a:pt x="10891" y="0"/>
                  <a:pt x="24327" y="0"/>
                </a:cubicBezTo>
                <a:close/>
              </a:path>
            </a:pathLst>
          </a:custGeom>
          <a:gradFill rotWithShape="1">
            <a:gsLst>
              <a:gs pos="0">
                <a:srgbClr val="193FC4">
                  <a:alpha val="64000"/>
                </a:srgbClr>
              </a:gs>
              <a:gs pos="100000">
                <a:srgbClr val="2787F8">
                  <a:alpha val="64000"/>
                </a:srgbClr>
              </a:gs>
            </a:gsLst>
            <a:lin ang="5400000"/>
          </a:gradFill>
          <a:ln w="12700">
            <a:solidFill>
              <a:srgbClr val="000000"/>
            </a:solidFill>
          </a:ln>
        </p:spPr>
      </p:sp>
      <p:sp>
        <p:nvSpPr>
          <p:cNvPr id="4" name="TextBox 5"/>
          <p:cNvSpPr/>
          <p:nvPr/>
        </p:nvSpPr>
        <p:spPr>
          <a:xfrm>
            <a:off x="1028700" y="847813"/>
            <a:ext cx="16230600" cy="8410487"/>
          </a:xfrm>
          <a:prstGeom prst="rect">
            <a:avLst/>
          </a:prstGeom>
          <a:noFill/>
        </p:spPr>
      </p:sp>
      <p:sp>
        <p:nvSpPr>
          <p:cNvPr id="5" name="TextBox 6"/>
          <p:cNvSpPr/>
          <p:nvPr/>
        </p:nvSpPr>
        <p:spPr>
          <a:xfrm>
            <a:off x="1766950" y="1292301"/>
            <a:ext cx="14754101" cy="1623928"/>
          </a:xfrm>
          <a:prstGeom prst="rect">
            <a:avLst/>
          </a:prstGeom>
          <a:noFill/>
        </p:spPr>
        <p:txBody>
          <a:bodyPr anchor="t" wrap="square" lIns="0" rIns="0" tIns="0" bIns="0"/>
          <a:lstStyle/>
          <a:p>
            <a:pPr algn="just">
              <a:lnSpc>
                <a:spcPts val="6567"/>
              </a:lnSpc>
            </a:pPr>
            <a:r>
              <a:rPr sz="4690" b="0" i="0" u="none">
                <a:solidFill>
                  <a:srgbClr val="FFFFFF"/>
                </a:solidFill>
                <a:latin typeface="Anton"/>
              </a:rPr>
              <a:t>H</a:t>
            </a:r>
            <a:r>
              <a:rPr sz="4690" b="0" i="0" u="none">
                <a:solidFill>
                  <a:srgbClr val="FFFFFF"/>
                </a:solidFill>
                <a:latin typeface="Anton"/>
              </a:rPr>
              <a:t>ỘI NHẬP KINH TẾ QUỐC TẾ GIÚP CÁC QUỐC GIA CÓ THỂ THAM GIA VÀO HOẠT ĐỘNG NÀO SAU ĐÂY?</a:t>
            </a:r>
          </a:p>
        </p:txBody>
      </p:sp>
      <p:sp>
        <p:nvSpPr>
          <p:cNvPr id="6" name="TextBox 7"/>
          <p:cNvSpPr/>
          <p:nvPr/>
        </p:nvSpPr>
        <p:spPr>
          <a:xfrm>
            <a:off x="1833625" y="4088143"/>
            <a:ext cx="6302760" cy="1368949"/>
          </a:xfrm>
          <a:prstGeom prst="rect">
            <a:avLst/>
          </a:prstGeom>
          <a:noFill/>
        </p:spPr>
        <p:txBody>
          <a:bodyPr anchor="t" wrap="square" lIns="0" rIns="0" tIns="0" bIns="0"/>
          <a:lstStyle/>
          <a:p>
            <a:pPr algn="just">
              <a:lnSpc>
                <a:spcPts val="5680"/>
              </a:lnSpc>
            </a:pPr>
            <a:r>
              <a:rPr sz="3341" b="0" i="0" u="none">
                <a:solidFill>
                  <a:srgbClr val="FFFFFF"/>
                </a:solidFill>
                <a:latin typeface="Anton"/>
              </a:rPr>
              <a:t>A. HỢP TÁC, TRAO ĐỔI THƯƠNG MẠI VÀ ĐẦU TƯ VỚI CÁC QUỐC GIA KHÁC.</a:t>
            </a:r>
          </a:p>
        </p:txBody>
      </p:sp>
      <p:sp>
        <p:nvSpPr>
          <p:cNvPr id="7" name="TextBox 8"/>
          <p:cNvSpPr/>
          <p:nvPr/>
        </p:nvSpPr>
        <p:spPr>
          <a:xfrm>
            <a:off x="8519580" y="4078618"/>
            <a:ext cx="8439594" cy="664209"/>
          </a:xfrm>
          <a:prstGeom prst="rect">
            <a:avLst/>
          </a:prstGeom>
          <a:noFill/>
        </p:spPr>
        <p:txBody>
          <a:bodyPr anchor="t" wrap="square" lIns="0" rIns="0" tIns="0" bIns="0"/>
          <a:lstStyle/>
          <a:p>
            <a:pPr algn="just">
              <a:lnSpc>
                <a:spcPts val="5677"/>
              </a:lnSpc>
            </a:pPr>
            <a:r>
              <a:rPr sz="3339" b="0" i="0" u="none">
                <a:solidFill>
                  <a:srgbClr val="FFFFFF"/>
                </a:solidFill>
                <a:latin typeface="Anton"/>
              </a:rPr>
              <a:t>B. ĐÓNG CỬA THỊ TRƯỜNG TRONG NƯỚC.</a:t>
            </a:r>
          </a:p>
        </p:txBody>
      </p:sp>
      <p:sp>
        <p:nvSpPr>
          <p:cNvPr id="8" name="TextBox 9"/>
          <p:cNvSpPr/>
          <p:nvPr/>
        </p:nvSpPr>
        <p:spPr>
          <a:xfrm>
            <a:off x="1833625" y="5913103"/>
            <a:ext cx="6302760" cy="654528"/>
          </a:xfrm>
          <a:prstGeom prst="rect">
            <a:avLst/>
          </a:prstGeom>
          <a:noFill/>
        </p:spPr>
        <p:txBody>
          <a:bodyPr anchor="t" wrap="square" lIns="0" rIns="0" tIns="0" bIns="0"/>
          <a:lstStyle/>
          <a:p>
            <a:pPr algn="just">
              <a:lnSpc>
                <a:spcPts val="5682"/>
              </a:lnSpc>
            </a:pPr>
            <a:r>
              <a:rPr sz="3341" b="0" i="0" u="none">
                <a:solidFill>
                  <a:srgbClr val="FFFFFF"/>
                </a:solidFill>
                <a:latin typeface="Anton"/>
              </a:rPr>
              <a:t>C. NGĂN CẢN DÒNG VỐN ĐẦU TƯ QUỐC TẾ.</a:t>
            </a:r>
          </a:p>
        </p:txBody>
      </p:sp>
      <p:sp>
        <p:nvSpPr>
          <p:cNvPr id="9" name="TextBox 10"/>
          <p:cNvSpPr/>
          <p:nvPr/>
        </p:nvSpPr>
        <p:spPr>
          <a:xfrm>
            <a:off x="8519580" y="5903578"/>
            <a:ext cx="8439594" cy="1378585"/>
          </a:xfrm>
          <a:prstGeom prst="rect">
            <a:avLst/>
          </a:prstGeom>
          <a:noFill/>
        </p:spPr>
        <p:txBody>
          <a:bodyPr anchor="t" wrap="square" lIns="0" rIns="0" tIns="0" bIns="0"/>
          <a:lstStyle/>
          <a:p>
            <a:pPr algn="just">
              <a:lnSpc>
                <a:spcPts val="5677"/>
              </a:lnSpc>
            </a:pPr>
            <a:r>
              <a:rPr sz="3339" b="0" i="0" u="none">
                <a:solidFill>
                  <a:srgbClr val="FFFFFF"/>
                </a:solidFill>
                <a:latin typeface="Anton"/>
              </a:rPr>
              <a:t>D. HẠN CHẾ HỢP</a:t>
            </a:r>
            <a:r>
              <a:rPr sz="3339" b="0" i="0" u="none">
                <a:solidFill>
                  <a:srgbClr val="FFFFFF"/>
                </a:solidFill>
                <a:latin typeface="Anton"/>
              </a:rPr>
              <a:t> TÁC KINH TẾ VỚI CÁC TỔ CHỨC QUỐC TẾ.</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 name="Freeform 2"/>
          <p:cNvPicPr>
            <a:picLocks noChangeAspect="0"/>
          </p:cNvPicPr>
          <p:nvPr/>
        </p:nvPicPr>
        <p:blipFill>
          <a:blip r:embed="rIdPic1"/>
          <a:stretch>
            <a:fillRect/>
          </a:stretch>
        </p:blipFill>
        <p:spPr>
          <a:xfrm>
            <a:off x="0" y="0"/>
            <a:ext cx="18288000" cy="10287000"/>
          </a:xfrm>
          <a:prstGeom prst="rect">
            <a:avLst/>
          </a:prstGeom>
        </p:spPr>
      </p:pic>
      <p:sp>
        <p:nvSpPr>
          <p:cNvPr id="3" name="Freeform 4"/>
          <p:cNvSpPr/>
          <p:nvPr/>
        </p:nvSpPr>
        <p:spPr>
          <a:xfrm>
            <a:off x="1028700" y="1028700"/>
            <a:ext cx="16230600" cy="8229600"/>
          </a:xfrm>
          <a:custGeom>
            <a:avLst/>
            <a:gdLst/>
            <a:ahLst/>
            <a:cxnLst/>
            <a:rect l="l" t="t" r="r" b="b"/>
            <a:pathLst>
              <a:path w="3418644" h="1733397">
                <a:moveTo>
                  <a:pt x="24327" y="0"/>
                </a:moveTo>
                <a:lnTo>
                  <a:pt x="3394317" y="0"/>
                </a:lnTo>
                <a:cubicBezTo>
                  <a:pt x="3407752" y="0"/>
                  <a:pt x="3418644" y="10891"/>
                  <a:pt x="3418644" y="24327"/>
                </a:cubicBezTo>
                <a:lnTo>
                  <a:pt x="3418644" y="1709070"/>
                </a:lnTo>
                <a:cubicBezTo>
                  <a:pt x="3418644" y="1722506"/>
                  <a:pt x="3407752" y="1733397"/>
                  <a:pt x="3394317" y="1733397"/>
                </a:cubicBezTo>
                <a:lnTo>
                  <a:pt x="24327" y="1733397"/>
                </a:lnTo>
                <a:cubicBezTo>
                  <a:pt x="10891" y="1733397"/>
                  <a:pt x="0" y="1722506"/>
                  <a:pt x="0" y="1709070"/>
                </a:cubicBezTo>
                <a:lnTo>
                  <a:pt x="0" y="24327"/>
                </a:lnTo>
                <a:cubicBezTo>
                  <a:pt x="0" y="10891"/>
                  <a:pt x="10891" y="0"/>
                  <a:pt x="24327" y="0"/>
                </a:cubicBezTo>
                <a:close/>
              </a:path>
            </a:pathLst>
          </a:custGeom>
          <a:gradFill rotWithShape="1">
            <a:gsLst>
              <a:gs pos="0">
                <a:srgbClr val="193FC4">
                  <a:alpha val="64000"/>
                </a:srgbClr>
              </a:gs>
              <a:gs pos="100000">
                <a:srgbClr val="2787F8">
                  <a:alpha val="64000"/>
                </a:srgbClr>
              </a:gs>
            </a:gsLst>
            <a:lin ang="5400000"/>
          </a:gradFill>
          <a:ln w="12700">
            <a:solidFill>
              <a:srgbClr val="000000"/>
            </a:solidFill>
          </a:ln>
        </p:spPr>
      </p:sp>
      <p:sp>
        <p:nvSpPr>
          <p:cNvPr id="4" name="TextBox 5"/>
          <p:cNvSpPr/>
          <p:nvPr/>
        </p:nvSpPr>
        <p:spPr>
          <a:xfrm>
            <a:off x="1028700" y="847813"/>
            <a:ext cx="16230600" cy="8410487"/>
          </a:xfrm>
          <a:prstGeom prst="rect">
            <a:avLst/>
          </a:prstGeom>
          <a:noFill/>
        </p:spPr>
      </p:sp>
      <p:sp>
        <p:nvSpPr>
          <p:cNvPr id="5" name="TextBox 6"/>
          <p:cNvSpPr/>
          <p:nvPr/>
        </p:nvSpPr>
        <p:spPr>
          <a:xfrm>
            <a:off x="1766950" y="1292301"/>
            <a:ext cx="14754101" cy="1623928"/>
          </a:xfrm>
          <a:prstGeom prst="rect">
            <a:avLst/>
          </a:prstGeom>
          <a:noFill/>
        </p:spPr>
        <p:txBody>
          <a:bodyPr anchor="t" wrap="square" lIns="0" rIns="0" tIns="0" bIns="0"/>
          <a:lstStyle/>
          <a:p>
            <a:pPr algn="just">
              <a:lnSpc>
                <a:spcPts val="6567"/>
              </a:lnSpc>
            </a:pPr>
            <a:r>
              <a:rPr sz="4690" b="0" i="0" u="none">
                <a:solidFill>
                  <a:srgbClr val="FFFFFF"/>
                </a:solidFill>
                <a:latin typeface="Anton"/>
              </a:rPr>
              <a:t>H</a:t>
            </a:r>
            <a:r>
              <a:rPr sz="4690" b="0" i="0" u="none">
                <a:solidFill>
                  <a:srgbClr val="FFFFFF"/>
                </a:solidFill>
                <a:latin typeface="Anton"/>
              </a:rPr>
              <a:t>ỘI NHẬP KINH TẾ QUỐC TẾ GIÚP CÁC QUỐC GIA CÓ THỂ THAM GIA VÀO HOẠT ĐỘNG NÀO SAU ĐÂY?</a:t>
            </a:r>
          </a:p>
        </p:txBody>
      </p:sp>
      <p:sp>
        <p:nvSpPr>
          <p:cNvPr id="6" name="TextBox 7"/>
          <p:cNvSpPr/>
          <p:nvPr/>
        </p:nvSpPr>
        <p:spPr>
          <a:xfrm>
            <a:off x="1833625" y="4088143"/>
            <a:ext cx="6302760" cy="1368949"/>
          </a:xfrm>
          <a:prstGeom prst="rect">
            <a:avLst/>
          </a:prstGeom>
          <a:noFill/>
        </p:spPr>
        <p:txBody>
          <a:bodyPr anchor="t" wrap="square" lIns="0" rIns="0" tIns="0" bIns="0"/>
          <a:lstStyle/>
          <a:p>
            <a:pPr algn="just">
              <a:lnSpc>
                <a:spcPts val="5680"/>
              </a:lnSpc>
            </a:pPr>
            <a:r>
              <a:rPr sz="3341" b="0" i="0" u="none">
                <a:solidFill>
                  <a:srgbClr val="FFD100"/>
                </a:solidFill>
                <a:latin typeface="Anton"/>
              </a:rPr>
              <a:t>A. HỢP TÁC, TRAO ĐỔI THƯƠNG MẠI VÀ ĐẦU TƯ VỚI CÁC QUỐC GIA KHÁC.</a:t>
            </a:r>
          </a:p>
        </p:txBody>
      </p:sp>
      <p:sp>
        <p:nvSpPr>
          <p:cNvPr id="7" name="TextBox 8"/>
          <p:cNvSpPr/>
          <p:nvPr/>
        </p:nvSpPr>
        <p:spPr>
          <a:xfrm>
            <a:off x="8519580" y="4078618"/>
            <a:ext cx="8439594" cy="664209"/>
          </a:xfrm>
          <a:prstGeom prst="rect">
            <a:avLst/>
          </a:prstGeom>
          <a:noFill/>
        </p:spPr>
        <p:txBody>
          <a:bodyPr anchor="t" wrap="square" lIns="0" rIns="0" tIns="0" bIns="0"/>
          <a:lstStyle/>
          <a:p>
            <a:pPr algn="just">
              <a:lnSpc>
                <a:spcPts val="5677"/>
              </a:lnSpc>
            </a:pPr>
            <a:r>
              <a:rPr sz="3339" b="0" i="0" u="none">
                <a:solidFill>
                  <a:srgbClr val="FFFFFF"/>
                </a:solidFill>
                <a:latin typeface="Anton"/>
              </a:rPr>
              <a:t>B. ĐÓNG CỬA THỊ TRƯỜNG TRONG NƯỚC.</a:t>
            </a:r>
          </a:p>
        </p:txBody>
      </p:sp>
      <p:sp>
        <p:nvSpPr>
          <p:cNvPr id="8" name="TextBox 9"/>
          <p:cNvSpPr/>
          <p:nvPr/>
        </p:nvSpPr>
        <p:spPr>
          <a:xfrm>
            <a:off x="1833625" y="5913103"/>
            <a:ext cx="6302760" cy="654528"/>
          </a:xfrm>
          <a:prstGeom prst="rect">
            <a:avLst/>
          </a:prstGeom>
          <a:noFill/>
        </p:spPr>
        <p:txBody>
          <a:bodyPr anchor="t" wrap="square" lIns="0" rIns="0" tIns="0" bIns="0"/>
          <a:lstStyle/>
          <a:p>
            <a:pPr algn="just">
              <a:lnSpc>
                <a:spcPts val="5682"/>
              </a:lnSpc>
            </a:pPr>
            <a:r>
              <a:rPr sz="3341" b="0" i="0" u="none">
                <a:solidFill>
                  <a:srgbClr val="FFFFFF"/>
                </a:solidFill>
                <a:latin typeface="Anton"/>
              </a:rPr>
              <a:t>C. NGĂN CẢN DÒNG VỐN ĐẦU TƯ QUỐC TẾ.</a:t>
            </a:r>
          </a:p>
        </p:txBody>
      </p:sp>
      <p:sp>
        <p:nvSpPr>
          <p:cNvPr id="9" name="TextBox 10"/>
          <p:cNvSpPr/>
          <p:nvPr/>
        </p:nvSpPr>
        <p:spPr>
          <a:xfrm>
            <a:off x="8519580" y="5903578"/>
            <a:ext cx="8439594" cy="1378585"/>
          </a:xfrm>
          <a:prstGeom prst="rect">
            <a:avLst/>
          </a:prstGeom>
          <a:noFill/>
        </p:spPr>
        <p:txBody>
          <a:bodyPr anchor="t" wrap="square" lIns="0" rIns="0" tIns="0" bIns="0"/>
          <a:lstStyle/>
          <a:p>
            <a:pPr algn="just">
              <a:lnSpc>
                <a:spcPts val="5677"/>
              </a:lnSpc>
            </a:pPr>
            <a:r>
              <a:rPr sz="3339" b="0" i="0" u="none">
                <a:solidFill>
                  <a:srgbClr val="FFFFFF"/>
                </a:solidFill>
                <a:latin typeface="Anton"/>
              </a:rPr>
              <a:t>D. HẠN CHẾ HỢP</a:t>
            </a:r>
            <a:r>
              <a:rPr sz="3339" b="0" i="0" u="none">
                <a:solidFill>
                  <a:srgbClr val="FFFFFF"/>
                </a:solidFill>
                <a:latin typeface="Anton"/>
              </a:rPr>
              <a:t> TÁC KINH TẾ VỚI CÁC TỔ CHỨC QUỐC TẾ.</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 name="Freeform 2"/>
          <p:cNvPicPr>
            <a:picLocks noChangeAspect="0"/>
          </p:cNvPicPr>
          <p:nvPr/>
        </p:nvPicPr>
        <p:blipFill>
          <a:blip r:embed="rIdPic1"/>
          <a:stretch>
            <a:fillRect/>
          </a:stretch>
        </p:blipFill>
        <p:spPr>
          <a:xfrm>
            <a:off x="0" y="0"/>
            <a:ext cx="18288000" cy="10287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 name="Freeform 2"/>
          <p:cNvPicPr>
            <a:picLocks noChangeAspect="0"/>
          </p:cNvPicPr>
          <p:nvPr/>
        </p:nvPicPr>
        <p:blipFill>
          <a:blip r:embed="rIdPic1"/>
          <a:stretch>
            <a:fillRect/>
          </a:stretch>
        </p:blipFill>
        <p:spPr>
          <a:xfrm>
            <a:off x="0" y="0"/>
            <a:ext cx="18288000" cy="10287000"/>
          </a:xfrm>
          <a:prstGeom prst="rect">
            <a:avLst/>
          </a:prstGeom>
        </p:spPr>
      </p:pic>
      <p:sp>
        <p:nvSpPr>
          <p:cNvPr id="3" name="Freeform 4"/>
          <p:cNvSpPr/>
          <p:nvPr/>
        </p:nvSpPr>
        <p:spPr>
          <a:xfrm>
            <a:off x="1028700" y="1028700"/>
            <a:ext cx="16230600" cy="8229600"/>
          </a:xfrm>
          <a:custGeom>
            <a:avLst/>
            <a:gdLst/>
            <a:ahLst/>
            <a:cxnLst/>
            <a:rect l="l" t="t" r="r" b="b"/>
            <a:pathLst>
              <a:path w="3418644" h="1733397">
                <a:moveTo>
                  <a:pt x="24327" y="0"/>
                </a:moveTo>
                <a:lnTo>
                  <a:pt x="3394317" y="0"/>
                </a:lnTo>
                <a:cubicBezTo>
                  <a:pt x="3407752" y="0"/>
                  <a:pt x="3418644" y="10891"/>
                  <a:pt x="3418644" y="24327"/>
                </a:cubicBezTo>
                <a:lnTo>
                  <a:pt x="3418644" y="1709070"/>
                </a:lnTo>
                <a:cubicBezTo>
                  <a:pt x="3418644" y="1722506"/>
                  <a:pt x="3407752" y="1733397"/>
                  <a:pt x="3394317" y="1733397"/>
                </a:cubicBezTo>
                <a:lnTo>
                  <a:pt x="24327" y="1733397"/>
                </a:lnTo>
                <a:cubicBezTo>
                  <a:pt x="10891" y="1733397"/>
                  <a:pt x="0" y="1722506"/>
                  <a:pt x="0" y="1709070"/>
                </a:cubicBezTo>
                <a:lnTo>
                  <a:pt x="0" y="24327"/>
                </a:lnTo>
                <a:cubicBezTo>
                  <a:pt x="0" y="10891"/>
                  <a:pt x="10891" y="0"/>
                  <a:pt x="24327" y="0"/>
                </a:cubicBezTo>
                <a:close/>
              </a:path>
            </a:pathLst>
          </a:custGeom>
          <a:gradFill rotWithShape="1">
            <a:gsLst>
              <a:gs pos="0">
                <a:srgbClr val="193FC4">
                  <a:alpha val="64000"/>
                </a:srgbClr>
              </a:gs>
              <a:gs pos="100000">
                <a:srgbClr val="2787F8">
                  <a:alpha val="64000"/>
                </a:srgbClr>
              </a:gs>
            </a:gsLst>
            <a:lin ang="5400000"/>
          </a:gradFill>
          <a:ln w="12700">
            <a:solidFill>
              <a:srgbClr val="000000"/>
            </a:solidFill>
          </a:ln>
        </p:spPr>
      </p:sp>
      <p:sp>
        <p:nvSpPr>
          <p:cNvPr id="4" name="TextBox 5"/>
          <p:cNvSpPr/>
          <p:nvPr/>
        </p:nvSpPr>
        <p:spPr>
          <a:xfrm>
            <a:off x="1028700" y="847813"/>
            <a:ext cx="16230600" cy="8410487"/>
          </a:xfrm>
          <a:prstGeom prst="rect">
            <a:avLst/>
          </a:prstGeom>
          <a:noFill/>
        </p:spPr>
      </p:sp>
      <p:sp>
        <p:nvSpPr>
          <p:cNvPr id="5" name="TextBox 6"/>
          <p:cNvSpPr/>
          <p:nvPr/>
        </p:nvSpPr>
        <p:spPr>
          <a:xfrm>
            <a:off x="1766950" y="1292301"/>
            <a:ext cx="14754101" cy="1623928"/>
          </a:xfrm>
          <a:prstGeom prst="rect">
            <a:avLst/>
          </a:prstGeom>
          <a:noFill/>
        </p:spPr>
        <p:txBody>
          <a:bodyPr anchor="t" wrap="square" lIns="0" rIns="0" tIns="0" bIns="0"/>
          <a:lstStyle/>
          <a:p>
            <a:pPr algn="just">
              <a:lnSpc>
                <a:spcPts val="6567"/>
              </a:lnSpc>
            </a:pPr>
            <a:r>
              <a:rPr sz="4690" b="0" i="0" u="none">
                <a:solidFill>
                  <a:srgbClr val="FFFFFF"/>
                </a:solidFill>
                <a:latin typeface="Anton"/>
              </a:rPr>
              <a:t>V</a:t>
            </a:r>
            <a:r>
              <a:rPr sz="4690" b="0" i="0" u="none">
                <a:solidFill>
                  <a:srgbClr val="FFFFFF"/>
                </a:solidFill>
                <a:latin typeface="Anton"/>
              </a:rPr>
              <a:t>IỆC VIỆT NAM THAM GIA CÁC TỔ CHỨC VÀ HIỆP ĐỊNH KINH TẾ QUỐC TẾ LÀ BIỂU HIỆN CỦA</a:t>
            </a:r>
          </a:p>
        </p:txBody>
      </p:sp>
      <p:sp>
        <p:nvSpPr>
          <p:cNvPr id="6" name="TextBox 7"/>
          <p:cNvSpPr/>
          <p:nvPr/>
        </p:nvSpPr>
        <p:spPr>
          <a:xfrm>
            <a:off x="1833625" y="4088143"/>
            <a:ext cx="6302760" cy="654574"/>
          </a:xfrm>
          <a:prstGeom prst="rect">
            <a:avLst/>
          </a:prstGeom>
          <a:noFill/>
        </p:spPr>
        <p:txBody>
          <a:bodyPr anchor="t" wrap="square" lIns="0" rIns="0" tIns="0" bIns="0"/>
          <a:lstStyle/>
          <a:p>
            <a:pPr algn="just">
              <a:lnSpc>
                <a:spcPts val="5680"/>
              </a:lnSpc>
            </a:pPr>
            <a:r>
              <a:rPr sz="3341" b="0" i="0" u="none">
                <a:solidFill>
                  <a:srgbClr val="FFFFFF"/>
                </a:solidFill>
                <a:latin typeface="Anton"/>
              </a:rPr>
              <a:t>A. TỰ CUNG, TỰ CẤP.</a:t>
            </a:r>
          </a:p>
        </p:txBody>
      </p:sp>
      <p:sp>
        <p:nvSpPr>
          <p:cNvPr id="7" name="TextBox 8"/>
          <p:cNvSpPr/>
          <p:nvPr/>
        </p:nvSpPr>
        <p:spPr>
          <a:xfrm>
            <a:off x="8519580" y="4078618"/>
            <a:ext cx="8439594" cy="664209"/>
          </a:xfrm>
          <a:prstGeom prst="rect">
            <a:avLst/>
          </a:prstGeom>
          <a:noFill/>
        </p:spPr>
        <p:txBody>
          <a:bodyPr anchor="t" wrap="square" lIns="0" rIns="0" tIns="0" bIns="0"/>
          <a:lstStyle/>
          <a:p>
            <a:pPr algn="just">
              <a:lnSpc>
                <a:spcPts val="5677"/>
              </a:lnSpc>
            </a:pPr>
            <a:r>
              <a:rPr sz="3339" b="0" i="0" u="none">
                <a:solidFill>
                  <a:srgbClr val="FFFFFF"/>
                </a:solidFill>
                <a:latin typeface="Anton"/>
              </a:rPr>
              <a:t>B. HỘI NHẬP KINH TẾ QUỐC TẾ.</a:t>
            </a:r>
          </a:p>
        </p:txBody>
      </p:sp>
      <p:sp>
        <p:nvSpPr>
          <p:cNvPr id="8" name="TextBox 9"/>
          <p:cNvSpPr/>
          <p:nvPr/>
        </p:nvSpPr>
        <p:spPr>
          <a:xfrm>
            <a:off x="1833625" y="5913103"/>
            <a:ext cx="6302760" cy="654528"/>
          </a:xfrm>
          <a:prstGeom prst="rect">
            <a:avLst/>
          </a:prstGeom>
          <a:noFill/>
        </p:spPr>
        <p:txBody>
          <a:bodyPr anchor="t" wrap="square" lIns="0" rIns="0" tIns="0" bIns="0"/>
          <a:lstStyle/>
          <a:p>
            <a:pPr algn="just">
              <a:lnSpc>
                <a:spcPts val="5682"/>
              </a:lnSpc>
            </a:pPr>
            <a:r>
              <a:rPr sz="3341" b="0" i="0" u="none">
                <a:solidFill>
                  <a:srgbClr val="FFFFFF"/>
                </a:solidFill>
                <a:latin typeface="Anton"/>
              </a:rPr>
              <a:t>C. CÔ LẬP KINH TẾ.</a:t>
            </a:r>
          </a:p>
        </p:txBody>
      </p:sp>
      <p:sp>
        <p:nvSpPr>
          <p:cNvPr id="9" name="TextBox 10"/>
          <p:cNvSpPr/>
          <p:nvPr/>
        </p:nvSpPr>
        <p:spPr>
          <a:xfrm>
            <a:off x="8519580" y="5903578"/>
            <a:ext cx="8439594" cy="664209"/>
          </a:xfrm>
          <a:prstGeom prst="rect">
            <a:avLst/>
          </a:prstGeom>
          <a:noFill/>
        </p:spPr>
        <p:txBody>
          <a:bodyPr anchor="t" wrap="square" lIns="0" rIns="0" tIns="0" bIns="0"/>
          <a:lstStyle/>
          <a:p>
            <a:pPr algn="just">
              <a:lnSpc>
                <a:spcPts val="5677"/>
              </a:lnSpc>
            </a:pPr>
            <a:r>
              <a:rPr sz="3339" b="0" i="0" u="none">
                <a:solidFill>
                  <a:srgbClr val="FFFFFF"/>
                </a:solidFill>
                <a:latin typeface="Anton"/>
              </a:rPr>
              <a:t>D. BẢO HỘ</a:t>
            </a:r>
            <a:r>
              <a:rPr sz="3339" b="0" i="0" u="none">
                <a:solidFill>
                  <a:srgbClr val="FFFFFF"/>
                </a:solidFill>
                <a:latin typeface="Anton"/>
              </a:rPr>
              <a:t> TUYỆT ĐỐI NỀN KINH TẾ.</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 name="Freeform 2"/>
          <p:cNvPicPr>
            <a:picLocks noChangeAspect="0"/>
          </p:cNvPicPr>
          <p:nvPr/>
        </p:nvPicPr>
        <p:blipFill>
          <a:blip r:embed="rIdPic1"/>
          <a:stretch>
            <a:fillRect/>
          </a:stretch>
        </p:blipFill>
        <p:spPr>
          <a:xfrm>
            <a:off x="0" y="0"/>
            <a:ext cx="18288000" cy="10287000"/>
          </a:xfrm>
          <a:prstGeom prst="rect">
            <a:avLst/>
          </a:prstGeom>
        </p:spPr>
      </p:pic>
      <p:sp>
        <p:nvSpPr>
          <p:cNvPr id="3" name="Freeform 4"/>
          <p:cNvSpPr/>
          <p:nvPr/>
        </p:nvSpPr>
        <p:spPr>
          <a:xfrm>
            <a:off x="1028700" y="1028700"/>
            <a:ext cx="16230600" cy="8229600"/>
          </a:xfrm>
          <a:custGeom>
            <a:avLst/>
            <a:gdLst/>
            <a:ahLst/>
            <a:cxnLst/>
            <a:rect l="l" t="t" r="r" b="b"/>
            <a:pathLst>
              <a:path w="3418644" h="1733397">
                <a:moveTo>
                  <a:pt x="24327" y="0"/>
                </a:moveTo>
                <a:lnTo>
                  <a:pt x="3394317" y="0"/>
                </a:lnTo>
                <a:cubicBezTo>
                  <a:pt x="3407752" y="0"/>
                  <a:pt x="3418644" y="10891"/>
                  <a:pt x="3418644" y="24327"/>
                </a:cubicBezTo>
                <a:lnTo>
                  <a:pt x="3418644" y="1709070"/>
                </a:lnTo>
                <a:cubicBezTo>
                  <a:pt x="3418644" y="1722506"/>
                  <a:pt x="3407752" y="1733397"/>
                  <a:pt x="3394317" y="1733397"/>
                </a:cubicBezTo>
                <a:lnTo>
                  <a:pt x="24327" y="1733397"/>
                </a:lnTo>
                <a:cubicBezTo>
                  <a:pt x="10891" y="1733397"/>
                  <a:pt x="0" y="1722506"/>
                  <a:pt x="0" y="1709070"/>
                </a:cubicBezTo>
                <a:lnTo>
                  <a:pt x="0" y="24327"/>
                </a:lnTo>
                <a:cubicBezTo>
                  <a:pt x="0" y="10891"/>
                  <a:pt x="10891" y="0"/>
                  <a:pt x="24327" y="0"/>
                </a:cubicBezTo>
                <a:close/>
              </a:path>
            </a:pathLst>
          </a:custGeom>
          <a:gradFill rotWithShape="1">
            <a:gsLst>
              <a:gs pos="0">
                <a:srgbClr val="193FC4">
                  <a:alpha val="64000"/>
                </a:srgbClr>
              </a:gs>
              <a:gs pos="100000">
                <a:srgbClr val="2787F8">
                  <a:alpha val="64000"/>
                </a:srgbClr>
              </a:gs>
            </a:gsLst>
            <a:lin ang="5400000"/>
          </a:gradFill>
          <a:ln w="12700">
            <a:solidFill>
              <a:srgbClr val="000000"/>
            </a:solidFill>
          </a:ln>
        </p:spPr>
      </p:sp>
      <p:sp>
        <p:nvSpPr>
          <p:cNvPr id="4" name="TextBox 5"/>
          <p:cNvSpPr/>
          <p:nvPr/>
        </p:nvSpPr>
        <p:spPr>
          <a:xfrm>
            <a:off x="1028700" y="847813"/>
            <a:ext cx="16230600" cy="8410487"/>
          </a:xfrm>
          <a:prstGeom prst="rect">
            <a:avLst/>
          </a:prstGeom>
          <a:noFill/>
        </p:spPr>
      </p:sp>
      <p:sp>
        <p:nvSpPr>
          <p:cNvPr id="5" name="TextBox 6"/>
          <p:cNvSpPr/>
          <p:nvPr/>
        </p:nvSpPr>
        <p:spPr>
          <a:xfrm>
            <a:off x="1766950" y="1292301"/>
            <a:ext cx="14754101" cy="1623928"/>
          </a:xfrm>
          <a:prstGeom prst="rect">
            <a:avLst/>
          </a:prstGeom>
          <a:noFill/>
        </p:spPr>
        <p:txBody>
          <a:bodyPr anchor="t" wrap="square" lIns="0" rIns="0" tIns="0" bIns="0"/>
          <a:lstStyle/>
          <a:p>
            <a:pPr algn="just">
              <a:lnSpc>
                <a:spcPts val="6567"/>
              </a:lnSpc>
            </a:pPr>
            <a:r>
              <a:rPr sz="4690" b="0" i="0" u="none">
                <a:solidFill>
                  <a:srgbClr val="FFFFFF"/>
                </a:solidFill>
                <a:latin typeface="Anton"/>
              </a:rPr>
              <a:t>V</a:t>
            </a:r>
            <a:r>
              <a:rPr sz="4690" b="0" i="0" u="none">
                <a:solidFill>
                  <a:srgbClr val="FFFFFF"/>
                </a:solidFill>
                <a:latin typeface="Anton"/>
              </a:rPr>
              <a:t>IỆC VIỆT NAM THAM GIA CÁC TỔ CHỨC VÀ HIỆP ĐỊNH KINH TẾ QUỐC TẾ LÀ BIỂU HIỆN CỦA</a:t>
            </a:r>
          </a:p>
        </p:txBody>
      </p:sp>
      <p:sp>
        <p:nvSpPr>
          <p:cNvPr id="6" name="TextBox 7"/>
          <p:cNvSpPr/>
          <p:nvPr/>
        </p:nvSpPr>
        <p:spPr>
          <a:xfrm>
            <a:off x="1833625" y="4088143"/>
            <a:ext cx="6302760" cy="654574"/>
          </a:xfrm>
          <a:prstGeom prst="rect">
            <a:avLst/>
          </a:prstGeom>
          <a:noFill/>
        </p:spPr>
        <p:txBody>
          <a:bodyPr anchor="t" wrap="square" lIns="0" rIns="0" tIns="0" bIns="0"/>
          <a:lstStyle/>
          <a:p>
            <a:pPr algn="just">
              <a:lnSpc>
                <a:spcPts val="5680"/>
              </a:lnSpc>
            </a:pPr>
            <a:r>
              <a:rPr sz="3341" b="0" i="0" u="none">
                <a:solidFill>
                  <a:srgbClr val="FFFFFF"/>
                </a:solidFill>
                <a:latin typeface="Anton"/>
              </a:rPr>
              <a:t>A. TỰ CUNG, TỰ CẤP.</a:t>
            </a:r>
          </a:p>
        </p:txBody>
      </p:sp>
      <p:sp>
        <p:nvSpPr>
          <p:cNvPr id="7" name="TextBox 8"/>
          <p:cNvSpPr/>
          <p:nvPr/>
        </p:nvSpPr>
        <p:spPr>
          <a:xfrm>
            <a:off x="8519580" y="4078618"/>
            <a:ext cx="8439594" cy="664209"/>
          </a:xfrm>
          <a:prstGeom prst="rect">
            <a:avLst/>
          </a:prstGeom>
          <a:noFill/>
        </p:spPr>
        <p:txBody>
          <a:bodyPr anchor="t" wrap="square" lIns="0" rIns="0" tIns="0" bIns="0"/>
          <a:lstStyle/>
          <a:p>
            <a:pPr algn="just">
              <a:lnSpc>
                <a:spcPts val="5677"/>
              </a:lnSpc>
            </a:pPr>
            <a:r>
              <a:rPr sz="3339" b="0" i="0" u="none">
                <a:solidFill>
                  <a:srgbClr val="FFD100"/>
                </a:solidFill>
                <a:latin typeface="Anton"/>
              </a:rPr>
              <a:t>B. HỘI NHẬP KINH TẾ QUỐC TẾ.</a:t>
            </a:r>
          </a:p>
        </p:txBody>
      </p:sp>
      <p:sp>
        <p:nvSpPr>
          <p:cNvPr id="8" name="TextBox 9"/>
          <p:cNvSpPr/>
          <p:nvPr/>
        </p:nvSpPr>
        <p:spPr>
          <a:xfrm>
            <a:off x="1833625" y="5913103"/>
            <a:ext cx="6302760" cy="654528"/>
          </a:xfrm>
          <a:prstGeom prst="rect">
            <a:avLst/>
          </a:prstGeom>
          <a:noFill/>
        </p:spPr>
        <p:txBody>
          <a:bodyPr anchor="t" wrap="square" lIns="0" rIns="0" tIns="0" bIns="0"/>
          <a:lstStyle/>
          <a:p>
            <a:pPr algn="just">
              <a:lnSpc>
                <a:spcPts val="5682"/>
              </a:lnSpc>
            </a:pPr>
            <a:r>
              <a:rPr sz="3341" b="0" i="0" u="none">
                <a:solidFill>
                  <a:srgbClr val="FFFFFF"/>
                </a:solidFill>
                <a:latin typeface="Anton"/>
              </a:rPr>
              <a:t>C. CÔ LẬP KINH TẾ.</a:t>
            </a:r>
          </a:p>
        </p:txBody>
      </p:sp>
      <p:sp>
        <p:nvSpPr>
          <p:cNvPr id="9" name="TextBox 10"/>
          <p:cNvSpPr/>
          <p:nvPr/>
        </p:nvSpPr>
        <p:spPr>
          <a:xfrm>
            <a:off x="8519580" y="5903578"/>
            <a:ext cx="8439594" cy="664209"/>
          </a:xfrm>
          <a:prstGeom prst="rect">
            <a:avLst/>
          </a:prstGeom>
          <a:noFill/>
        </p:spPr>
        <p:txBody>
          <a:bodyPr anchor="t" wrap="square" lIns="0" rIns="0" tIns="0" bIns="0"/>
          <a:lstStyle/>
          <a:p>
            <a:pPr algn="just">
              <a:lnSpc>
                <a:spcPts val="5677"/>
              </a:lnSpc>
            </a:pPr>
            <a:r>
              <a:rPr sz="3339" b="0" i="0" u="none">
                <a:solidFill>
                  <a:srgbClr val="FFFFFF"/>
                </a:solidFill>
                <a:latin typeface="Anton"/>
              </a:rPr>
              <a:t>D. BẢO HỘ</a:t>
            </a:r>
            <a:r>
              <a:rPr sz="3339" b="0" i="0" u="none">
                <a:solidFill>
                  <a:srgbClr val="FFFFFF"/>
                </a:solidFill>
                <a:latin typeface="Anton"/>
              </a:rPr>
              <a:t> TUYỆT ĐỐI NỀN KINH TẾ.</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 name="Freeform 2"/>
          <p:cNvPicPr>
            <a:picLocks noChangeAspect="0"/>
          </p:cNvPicPr>
          <p:nvPr/>
        </p:nvPicPr>
        <p:blipFill>
          <a:blip r:embed="rIdPic1"/>
          <a:stretch>
            <a:fillRect/>
          </a:stretch>
        </p:blipFill>
        <p:spPr>
          <a:xfrm>
            <a:off x="0" y="0"/>
            <a:ext cx="18288000" cy="10287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 name="Freeform 2"/>
          <p:cNvPicPr>
            <a:picLocks noChangeAspect="0"/>
          </p:cNvPicPr>
          <p:nvPr/>
        </p:nvPicPr>
        <p:blipFill>
          <a:blip r:embed="rIdPic1"/>
          <a:stretch>
            <a:fillRect/>
          </a:stretch>
        </p:blipFill>
        <p:spPr>
          <a:xfrm>
            <a:off x="0" y="0"/>
            <a:ext cx="18288000" cy="10287000"/>
          </a:xfrm>
          <a:prstGeom prst="rect">
            <a:avLst/>
          </a:prstGeom>
        </p:spPr>
      </p:pic>
      <p:sp>
        <p:nvSpPr>
          <p:cNvPr id="3" name="Freeform 4"/>
          <p:cNvSpPr/>
          <p:nvPr/>
        </p:nvSpPr>
        <p:spPr>
          <a:xfrm>
            <a:off x="1028700" y="1028700"/>
            <a:ext cx="16230600" cy="8229600"/>
          </a:xfrm>
          <a:custGeom>
            <a:avLst/>
            <a:gdLst/>
            <a:ahLst/>
            <a:cxnLst/>
            <a:rect l="l" t="t" r="r" b="b"/>
            <a:pathLst>
              <a:path w="3418644" h="1733397">
                <a:moveTo>
                  <a:pt x="24327" y="0"/>
                </a:moveTo>
                <a:lnTo>
                  <a:pt x="3394317" y="0"/>
                </a:lnTo>
                <a:cubicBezTo>
                  <a:pt x="3407752" y="0"/>
                  <a:pt x="3418644" y="10891"/>
                  <a:pt x="3418644" y="24327"/>
                </a:cubicBezTo>
                <a:lnTo>
                  <a:pt x="3418644" y="1709070"/>
                </a:lnTo>
                <a:cubicBezTo>
                  <a:pt x="3418644" y="1722506"/>
                  <a:pt x="3407752" y="1733397"/>
                  <a:pt x="3394317" y="1733397"/>
                </a:cubicBezTo>
                <a:lnTo>
                  <a:pt x="24327" y="1733397"/>
                </a:lnTo>
                <a:cubicBezTo>
                  <a:pt x="10891" y="1733397"/>
                  <a:pt x="0" y="1722506"/>
                  <a:pt x="0" y="1709070"/>
                </a:cubicBezTo>
                <a:lnTo>
                  <a:pt x="0" y="24327"/>
                </a:lnTo>
                <a:cubicBezTo>
                  <a:pt x="0" y="10891"/>
                  <a:pt x="10891" y="0"/>
                  <a:pt x="24327" y="0"/>
                </a:cubicBezTo>
                <a:close/>
              </a:path>
            </a:pathLst>
          </a:custGeom>
          <a:gradFill rotWithShape="1">
            <a:gsLst>
              <a:gs pos="0">
                <a:srgbClr val="193FC4">
                  <a:alpha val="64000"/>
                </a:srgbClr>
              </a:gs>
              <a:gs pos="100000">
                <a:srgbClr val="2787F8">
                  <a:alpha val="64000"/>
                </a:srgbClr>
              </a:gs>
            </a:gsLst>
            <a:lin ang="5400000"/>
          </a:gradFill>
          <a:ln w="12700">
            <a:solidFill>
              <a:srgbClr val="000000"/>
            </a:solidFill>
          </a:ln>
        </p:spPr>
      </p:sp>
      <p:sp>
        <p:nvSpPr>
          <p:cNvPr id="4" name="TextBox 5"/>
          <p:cNvSpPr/>
          <p:nvPr/>
        </p:nvSpPr>
        <p:spPr>
          <a:xfrm>
            <a:off x="1028700" y="847813"/>
            <a:ext cx="16230600" cy="8410487"/>
          </a:xfrm>
          <a:prstGeom prst="rect">
            <a:avLst/>
          </a:prstGeom>
          <a:noFill/>
        </p:spPr>
      </p:sp>
      <p:sp>
        <p:nvSpPr>
          <p:cNvPr id="5" name="TextBox 6"/>
          <p:cNvSpPr/>
          <p:nvPr/>
        </p:nvSpPr>
        <p:spPr>
          <a:xfrm>
            <a:off x="1766950" y="1292301"/>
            <a:ext cx="14754101" cy="795254"/>
          </a:xfrm>
          <a:prstGeom prst="rect">
            <a:avLst/>
          </a:prstGeom>
          <a:noFill/>
        </p:spPr>
        <p:txBody>
          <a:bodyPr anchor="t" wrap="square" lIns="0" rIns="0" tIns="0" bIns="0"/>
          <a:lstStyle/>
          <a:p>
            <a:pPr algn="just">
              <a:lnSpc>
                <a:spcPts val="6567"/>
              </a:lnSpc>
            </a:pPr>
            <a:r>
              <a:rPr sz="4690" b="0" i="0" u="none">
                <a:solidFill>
                  <a:srgbClr val="FFFFFF"/>
                </a:solidFill>
                <a:latin typeface="Anton"/>
              </a:rPr>
              <a:t>PHÁT B</a:t>
            </a:r>
            <a:r>
              <a:rPr sz="4690" b="0" i="0" u="none">
                <a:solidFill>
                  <a:srgbClr val="FFFFFF"/>
                </a:solidFill>
                <a:latin typeface="Anton"/>
              </a:rPr>
              <a:t>IỂU NÀO SAU ĐÂY ĐÚNG VỀ HỘI NHẬP KINH TẾ QUỐC TẾ?</a:t>
            </a:r>
          </a:p>
        </p:txBody>
      </p:sp>
      <p:sp>
        <p:nvSpPr>
          <p:cNvPr id="6" name="TextBox 7"/>
          <p:cNvSpPr/>
          <p:nvPr/>
        </p:nvSpPr>
        <p:spPr>
          <a:xfrm>
            <a:off x="1833625" y="4088143"/>
            <a:ext cx="6302760" cy="1368949"/>
          </a:xfrm>
          <a:prstGeom prst="rect">
            <a:avLst/>
          </a:prstGeom>
          <a:noFill/>
        </p:spPr>
        <p:txBody>
          <a:bodyPr anchor="t" wrap="square" lIns="0" rIns="0" tIns="0" bIns="0"/>
          <a:lstStyle/>
          <a:p>
            <a:pPr algn="just">
              <a:lnSpc>
                <a:spcPts val="5680"/>
              </a:lnSpc>
            </a:pPr>
            <a:r>
              <a:rPr sz="3341" b="0" i="0" u="none">
                <a:solidFill>
                  <a:srgbClr val="FFFFFF"/>
                </a:solidFill>
                <a:latin typeface="Anton"/>
              </a:rPr>
              <a:t>A. HỘI NHẬP KINH TẾ QUỐC TẾ CHỈ MANG LẠI LỢI ÍCH CHO CÁC NƯỚC PHÁT TRIỂN.</a:t>
            </a:r>
          </a:p>
        </p:txBody>
      </p:sp>
      <p:sp>
        <p:nvSpPr>
          <p:cNvPr id="7" name="TextBox 8"/>
          <p:cNvSpPr/>
          <p:nvPr/>
        </p:nvSpPr>
        <p:spPr>
          <a:xfrm>
            <a:off x="8519580" y="4078618"/>
            <a:ext cx="8439594" cy="1378585"/>
          </a:xfrm>
          <a:prstGeom prst="rect">
            <a:avLst/>
          </a:prstGeom>
          <a:noFill/>
        </p:spPr>
        <p:txBody>
          <a:bodyPr anchor="t" wrap="square" lIns="0" rIns="0" tIns="0" bIns="0"/>
          <a:lstStyle/>
          <a:p>
            <a:pPr algn="just">
              <a:lnSpc>
                <a:spcPts val="5677"/>
              </a:lnSpc>
            </a:pPr>
            <a:r>
              <a:rPr sz="3339" b="0" i="0" u="none">
                <a:solidFill>
                  <a:srgbClr val="FFFFFF"/>
                </a:solidFill>
                <a:latin typeface="Anton"/>
              </a:rPr>
              <a:t>B. HỘI NHẬP KINH TẾ QUỐC TẾ LÀ QUÁ TRÌNH CÁC QUỐC GIA TĂNG CƯỜNG LIÊN KẾT, HỢP TÁC KINH TẾ VỚI NHAU.</a:t>
            </a:r>
          </a:p>
        </p:txBody>
      </p:sp>
      <p:sp>
        <p:nvSpPr>
          <p:cNvPr id="8" name="TextBox 9"/>
          <p:cNvSpPr/>
          <p:nvPr/>
        </p:nvSpPr>
        <p:spPr>
          <a:xfrm>
            <a:off x="1833625" y="5913103"/>
            <a:ext cx="6302760" cy="2083278"/>
          </a:xfrm>
          <a:prstGeom prst="rect">
            <a:avLst/>
          </a:prstGeom>
          <a:noFill/>
        </p:spPr>
        <p:txBody>
          <a:bodyPr anchor="t" wrap="square" lIns="0" rIns="0" tIns="0" bIns="0"/>
          <a:lstStyle/>
          <a:p>
            <a:pPr algn="just">
              <a:lnSpc>
                <a:spcPts val="5682"/>
              </a:lnSpc>
            </a:pPr>
            <a:r>
              <a:rPr sz="3341" b="0" i="0" u="none">
                <a:solidFill>
                  <a:srgbClr val="FFFFFF"/>
                </a:solidFill>
                <a:latin typeface="Anton"/>
              </a:rPr>
              <a:t>C. HỘI NHẬP KINH TẾ QUỐC TẾ ĐỒNG NGHĨA VỚI VIỆC TỪ BỎ HOÀN TOÀN QUYỀN TỰ CHỦ KINH TẾ.</a:t>
            </a:r>
          </a:p>
        </p:txBody>
      </p:sp>
      <p:sp>
        <p:nvSpPr>
          <p:cNvPr id="9" name="TextBox 10"/>
          <p:cNvSpPr/>
          <p:nvPr/>
        </p:nvSpPr>
        <p:spPr>
          <a:xfrm>
            <a:off x="8519580" y="5903578"/>
            <a:ext cx="8439594" cy="1378585"/>
          </a:xfrm>
          <a:prstGeom prst="rect">
            <a:avLst/>
          </a:prstGeom>
          <a:noFill/>
        </p:spPr>
        <p:txBody>
          <a:bodyPr anchor="t" wrap="square" lIns="0" rIns="0" tIns="0" bIns="0"/>
          <a:lstStyle/>
          <a:p>
            <a:pPr algn="just">
              <a:lnSpc>
                <a:spcPts val="5677"/>
              </a:lnSpc>
            </a:pPr>
            <a:r>
              <a:rPr sz="3339" b="0" i="0" u="none">
                <a:solidFill>
                  <a:srgbClr val="FFFFFF"/>
                </a:solidFill>
                <a:latin typeface="Anton"/>
              </a:rPr>
              <a:t>D. HỘI NHẬP KINH</a:t>
            </a:r>
            <a:r>
              <a:rPr sz="3339" b="0" i="0" u="none">
                <a:solidFill>
                  <a:srgbClr val="FFFFFF"/>
                </a:solidFill>
                <a:latin typeface="Anton"/>
              </a:rPr>
              <a:t> TẾ QUỐC TẾ CHỈ ĐƯỢC THỰC HIỆN THÔNG QUA HOẠT ĐỘNG MUA BÁN HÀNG HÓA.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 name="Freeform 2"/>
          <p:cNvPicPr>
            <a:picLocks noChangeAspect="0"/>
          </p:cNvPicPr>
          <p:nvPr/>
        </p:nvPicPr>
        <p:blipFill>
          <a:blip r:embed="rIdPic1"/>
          <a:stretch>
            <a:fillRect/>
          </a:stretch>
        </p:blipFill>
        <p:spPr>
          <a:xfrm>
            <a:off x="0" y="0"/>
            <a:ext cx="18288000" cy="10287000"/>
          </a:xfrm>
          <a:prstGeom prst="rect">
            <a:avLst/>
          </a:prstGeom>
        </p:spPr>
      </p:pic>
      <p:sp>
        <p:nvSpPr>
          <p:cNvPr id="3" name="Freeform 4"/>
          <p:cNvSpPr/>
          <p:nvPr/>
        </p:nvSpPr>
        <p:spPr>
          <a:xfrm>
            <a:off x="1028700" y="1028700"/>
            <a:ext cx="16230600" cy="8229600"/>
          </a:xfrm>
          <a:custGeom>
            <a:avLst/>
            <a:gdLst/>
            <a:ahLst/>
            <a:cxnLst/>
            <a:rect l="l" t="t" r="r" b="b"/>
            <a:pathLst>
              <a:path w="3418644" h="1733397">
                <a:moveTo>
                  <a:pt x="24327" y="0"/>
                </a:moveTo>
                <a:lnTo>
                  <a:pt x="3394317" y="0"/>
                </a:lnTo>
                <a:cubicBezTo>
                  <a:pt x="3407752" y="0"/>
                  <a:pt x="3418644" y="10891"/>
                  <a:pt x="3418644" y="24327"/>
                </a:cubicBezTo>
                <a:lnTo>
                  <a:pt x="3418644" y="1709070"/>
                </a:lnTo>
                <a:cubicBezTo>
                  <a:pt x="3418644" y="1722506"/>
                  <a:pt x="3407752" y="1733397"/>
                  <a:pt x="3394317" y="1733397"/>
                </a:cubicBezTo>
                <a:lnTo>
                  <a:pt x="24327" y="1733397"/>
                </a:lnTo>
                <a:cubicBezTo>
                  <a:pt x="10891" y="1733397"/>
                  <a:pt x="0" y="1722506"/>
                  <a:pt x="0" y="1709070"/>
                </a:cubicBezTo>
                <a:lnTo>
                  <a:pt x="0" y="24327"/>
                </a:lnTo>
                <a:cubicBezTo>
                  <a:pt x="0" y="10891"/>
                  <a:pt x="10891" y="0"/>
                  <a:pt x="24327" y="0"/>
                </a:cubicBezTo>
                <a:close/>
              </a:path>
            </a:pathLst>
          </a:custGeom>
          <a:gradFill rotWithShape="1">
            <a:gsLst>
              <a:gs pos="0">
                <a:srgbClr val="193FC4">
                  <a:alpha val="64000"/>
                </a:srgbClr>
              </a:gs>
              <a:gs pos="100000">
                <a:srgbClr val="2787F8">
                  <a:alpha val="64000"/>
                </a:srgbClr>
              </a:gs>
            </a:gsLst>
            <a:lin ang="5400000"/>
          </a:gradFill>
          <a:ln w="12700">
            <a:solidFill>
              <a:srgbClr val="000000"/>
            </a:solidFill>
          </a:ln>
        </p:spPr>
      </p:sp>
      <p:sp>
        <p:nvSpPr>
          <p:cNvPr id="4" name="TextBox 5"/>
          <p:cNvSpPr/>
          <p:nvPr/>
        </p:nvSpPr>
        <p:spPr>
          <a:xfrm>
            <a:off x="1028700" y="847813"/>
            <a:ext cx="16230600" cy="8410487"/>
          </a:xfrm>
          <a:prstGeom prst="rect">
            <a:avLst/>
          </a:prstGeom>
          <a:noFill/>
        </p:spPr>
      </p:sp>
      <p:sp>
        <p:nvSpPr>
          <p:cNvPr id="5" name="TextBox 6"/>
          <p:cNvSpPr/>
          <p:nvPr/>
        </p:nvSpPr>
        <p:spPr>
          <a:xfrm>
            <a:off x="1766950" y="1292301"/>
            <a:ext cx="14754101" cy="795254"/>
          </a:xfrm>
          <a:prstGeom prst="rect">
            <a:avLst/>
          </a:prstGeom>
          <a:noFill/>
        </p:spPr>
        <p:txBody>
          <a:bodyPr anchor="t" wrap="square" lIns="0" rIns="0" tIns="0" bIns="0"/>
          <a:lstStyle/>
          <a:p>
            <a:pPr algn="just">
              <a:lnSpc>
                <a:spcPts val="6567"/>
              </a:lnSpc>
            </a:pPr>
            <a:r>
              <a:rPr sz="4690" b="0" i="0" u="none">
                <a:solidFill>
                  <a:srgbClr val="FFFFFF"/>
                </a:solidFill>
                <a:latin typeface="Anton"/>
              </a:rPr>
              <a:t>PHÁT B</a:t>
            </a:r>
            <a:r>
              <a:rPr sz="4690" b="0" i="0" u="none">
                <a:solidFill>
                  <a:srgbClr val="FFFFFF"/>
                </a:solidFill>
                <a:latin typeface="Anton"/>
              </a:rPr>
              <a:t>IỂU NÀO SAU ĐÂY ĐÚNG VỀ HỘI NHẬP KINH TẾ QUỐC TẾ?</a:t>
            </a:r>
          </a:p>
        </p:txBody>
      </p:sp>
      <p:sp>
        <p:nvSpPr>
          <p:cNvPr id="6" name="TextBox 7"/>
          <p:cNvSpPr/>
          <p:nvPr/>
        </p:nvSpPr>
        <p:spPr>
          <a:xfrm>
            <a:off x="1833625" y="4088143"/>
            <a:ext cx="6302760" cy="1368949"/>
          </a:xfrm>
          <a:prstGeom prst="rect">
            <a:avLst/>
          </a:prstGeom>
          <a:noFill/>
        </p:spPr>
        <p:txBody>
          <a:bodyPr anchor="t" wrap="square" lIns="0" rIns="0" tIns="0" bIns="0"/>
          <a:lstStyle/>
          <a:p>
            <a:pPr algn="just">
              <a:lnSpc>
                <a:spcPts val="5680"/>
              </a:lnSpc>
            </a:pPr>
            <a:r>
              <a:rPr sz="3341" b="0" i="0" u="none">
                <a:solidFill>
                  <a:srgbClr val="FFFFFF"/>
                </a:solidFill>
                <a:latin typeface="Anton"/>
              </a:rPr>
              <a:t>A. HỘI NHẬP KINH TẾ QUỐC TẾ CHỈ MANG LẠI LỢI ÍCH CHO CÁC NƯỚC PHÁT TRIỂN.</a:t>
            </a:r>
          </a:p>
        </p:txBody>
      </p:sp>
      <p:sp>
        <p:nvSpPr>
          <p:cNvPr id="7" name="TextBox 8"/>
          <p:cNvSpPr/>
          <p:nvPr/>
        </p:nvSpPr>
        <p:spPr>
          <a:xfrm>
            <a:off x="8519580" y="4078618"/>
            <a:ext cx="8439594" cy="1378585"/>
          </a:xfrm>
          <a:prstGeom prst="rect">
            <a:avLst/>
          </a:prstGeom>
          <a:noFill/>
        </p:spPr>
        <p:txBody>
          <a:bodyPr anchor="t" wrap="square" lIns="0" rIns="0" tIns="0" bIns="0"/>
          <a:lstStyle/>
          <a:p>
            <a:pPr algn="just">
              <a:lnSpc>
                <a:spcPts val="5677"/>
              </a:lnSpc>
            </a:pPr>
            <a:r>
              <a:rPr sz="3339" b="0" i="0" u="none">
                <a:solidFill>
                  <a:srgbClr val="FFD100"/>
                </a:solidFill>
                <a:latin typeface="Anton"/>
              </a:rPr>
              <a:t>B. HỘI NHẬP KINH TẾ QUỐC TẾ LÀ QUÁ TRÌNH CÁC QUỐC GIA TĂNG CƯỜNG LIÊN KẾT, HỢP TÁC KINH TẾ VỚI NHAU.</a:t>
            </a:r>
          </a:p>
        </p:txBody>
      </p:sp>
      <p:sp>
        <p:nvSpPr>
          <p:cNvPr id="8" name="TextBox 9"/>
          <p:cNvSpPr/>
          <p:nvPr/>
        </p:nvSpPr>
        <p:spPr>
          <a:xfrm>
            <a:off x="1833625" y="5913103"/>
            <a:ext cx="6302760" cy="2083278"/>
          </a:xfrm>
          <a:prstGeom prst="rect">
            <a:avLst/>
          </a:prstGeom>
          <a:noFill/>
        </p:spPr>
        <p:txBody>
          <a:bodyPr anchor="t" wrap="square" lIns="0" rIns="0" tIns="0" bIns="0"/>
          <a:lstStyle/>
          <a:p>
            <a:pPr algn="just">
              <a:lnSpc>
                <a:spcPts val="5682"/>
              </a:lnSpc>
            </a:pPr>
            <a:r>
              <a:rPr sz="3341" b="0" i="0" u="none">
                <a:solidFill>
                  <a:srgbClr val="FFFFFF"/>
                </a:solidFill>
                <a:latin typeface="Anton"/>
              </a:rPr>
              <a:t>C. HỘI NHẬP KINH TẾ QUỐC TẾ ĐỒNG NGHĨA VỚI VIỆC TỪ BỎ HOÀN TOÀN QUYỀN TỰ CHỦ KINH TẾ.</a:t>
            </a:r>
          </a:p>
        </p:txBody>
      </p:sp>
      <p:sp>
        <p:nvSpPr>
          <p:cNvPr id="9" name="TextBox 10"/>
          <p:cNvSpPr/>
          <p:nvPr/>
        </p:nvSpPr>
        <p:spPr>
          <a:xfrm>
            <a:off x="8519580" y="5903578"/>
            <a:ext cx="8439594" cy="1378585"/>
          </a:xfrm>
          <a:prstGeom prst="rect">
            <a:avLst/>
          </a:prstGeom>
          <a:noFill/>
        </p:spPr>
        <p:txBody>
          <a:bodyPr anchor="t" wrap="square" lIns="0" rIns="0" tIns="0" bIns="0"/>
          <a:lstStyle/>
          <a:p>
            <a:pPr algn="just">
              <a:lnSpc>
                <a:spcPts val="5677"/>
              </a:lnSpc>
            </a:pPr>
            <a:r>
              <a:rPr sz="3339" b="0" i="0" u="none">
                <a:solidFill>
                  <a:srgbClr val="FFFFFF"/>
                </a:solidFill>
                <a:latin typeface="Anton"/>
              </a:rPr>
              <a:t>D. HỘI NHẬP KINH</a:t>
            </a:r>
            <a:r>
              <a:rPr sz="3339" b="0" i="0" u="none">
                <a:solidFill>
                  <a:srgbClr val="FFFFFF"/>
                </a:solidFill>
                <a:latin typeface="Anton"/>
              </a:rPr>
              <a:t> TẾ QUỐC TẾ CHỈ ĐƯỢC THỰC HIỆN THÔNG QUA HOẠT ĐỘNG MUA BÁN HÀNG HÓA.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 name="Freeform 2"/>
          <p:cNvPicPr>
            <a:picLocks noChangeAspect="0"/>
          </p:cNvPicPr>
          <p:nvPr/>
        </p:nvPicPr>
        <p:blipFill>
          <a:blip r:embed="rIdPic1"/>
          <a:stretch>
            <a:fillRect/>
          </a:stretch>
        </p:blipFill>
        <p:spPr>
          <a:xfrm>
            <a:off x="0" y="0"/>
            <a:ext cx="18288000" cy="10287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 name="Freeform 2"/>
          <p:cNvPicPr>
            <a:picLocks noChangeAspect="0"/>
          </p:cNvPicPr>
          <p:nvPr/>
        </p:nvPicPr>
        <p:blipFill>
          <a:blip r:embed="rIdPic1"/>
          <a:stretch>
            <a:fillRect/>
          </a:stretch>
        </p:blipFill>
        <p:spPr>
          <a:xfrm>
            <a:off x="0" y="0"/>
            <a:ext cx="18288000" cy="10287000"/>
          </a:xfrm>
          <a:prstGeom prst="rect">
            <a:avLst/>
          </a:prstGeom>
        </p:spPr>
      </p:pic>
      <p:sp>
        <p:nvSpPr>
          <p:cNvPr id="3" name="Freeform 4"/>
          <p:cNvSpPr/>
          <p:nvPr/>
        </p:nvSpPr>
        <p:spPr>
          <a:xfrm>
            <a:off x="1028700" y="1028700"/>
            <a:ext cx="16230600" cy="8229600"/>
          </a:xfrm>
          <a:custGeom>
            <a:avLst/>
            <a:gdLst/>
            <a:ahLst/>
            <a:cxnLst/>
            <a:rect l="l" t="t" r="r" b="b"/>
            <a:pathLst>
              <a:path w="3418644" h="1733397">
                <a:moveTo>
                  <a:pt x="24327" y="0"/>
                </a:moveTo>
                <a:lnTo>
                  <a:pt x="3394317" y="0"/>
                </a:lnTo>
                <a:cubicBezTo>
                  <a:pt x="3407752" y="0"/>
                  <a:pt x="3418644" y="10891"/>
                  <a:pt x="3418644" y="24327"/>
                </a:cubicBezTo>
                <a:lnTo>
                  <a:pt x="3418644" y="1709070"/>
                </a:lnTo>
                <a:cubicBezTo>
                  <a:pt x="3418644" y="1722506"/>
                  <a:pt x="3407752" y="1733397"/>
                  <a:pt x="3394317" y="1733397"/>
                </a:cubicBezTo>
                <a:lnTo>
                  <a:pt x="24327" y="1733397"/>
                </a:lnTo>
                <a:cubicBezTo>
                  <a:pt x="10891" y="1733397"/>
                  <a:pt x="0" y="1722506"/>
                  <a:pt x="0" y="1709070"/>
                </a:cubicBezTo>
                <a:lnTo>
                  <a:pt x="0" y="24327"/>
                </a:lnTo>
                <a:cubicBezTo>
                  <a:pt x="0" y="10891"/>
                  <a:pt x="10891" y="0"/>
                  <a:pt x="24327" y="0"/>
                </a:cubicBezTo>
                <a:close/>
              </a:path>
            </a:pathLst>
          </a:custGeom>
          <a:gradFill rotWithShape="1">
            <a:gsLst>
              <a:gs pos="0">
                <a:srgbClr val="193FC4">
                  <a:alpha val="64000"/>
                </a:srgbClr>
              </a:gs>
              <a:gs pos="100000">
                <a:srgbClr val="2787F8">
                  <a:alpha val="64000"/>
                </a:srgbClr>
              </a:gs>
            </a:gsLst>
            <a:lin ang="5400000"/>
          </a:gradFill>
          <a:ln w="12700">
            <a:solidFill>
              <a:srgbClr val="000000"/>
            </a:solidFill>
          </a:ln>
        </p:spPr>
      </p:sp>
      <p:sp>
        <p:nvSpPr>
          <p:cNvPr id="4" name="TextBox 5"/>
          <p:cNvSpPr/>
          <p:nvPr/>
        </p:nvSpPr>
        <p:spPr>
          <a:xfrm>
            <a:off x="1028700" y="847813"/>
            <a:ext cx="16230600" cy="8410487"/>
          </a:xfrm>
          <a:prstGeom prst="rect">
            <a:avLst/>
          </a:prstGeom>
          <a:noFill/>
        </p:spPr>
      </p:sp>
      <p:sp>
        <p:nvSpPr>
          <p:cNvPr id="5" name="TextBox 6"/>
          <p:cNvSpPr/>
          <p:nvPr/>
        </p:nvSpPr>
        <p:spPr>
          <a:xfrm>
            <a:off x="1766950" y="1292301"/>
            <a:ext cx="14754101" cy="1623928"/>
          </a:xfrm>
          <a:prstGeom prst="rect">
            <a:avLst/>
          </a:prstGeom>
          <a:noFill/>
        </p:spPr>
        <p:txBody>
          <a:bodyPr anchor="t" wrap="square" lIns="0" rIns="0" tIns="0" bIns="0"/>
          <a:lstStyle/>
          <a:p>
            <a:pPr algn="just">
              <a:lnSpc>
                <a:spcPts val="6567"/>
              </a:lnSpc>
            </a:pPr>
            <a:r>
              <a:rPr sz="4690" b="0" i="0" u="none">
                <a:solidFill>
                  <a:srgbClr val="FFFFFF"/>
                </a:solidFill>
                <a:latin typeface="Anton"/>
              </a:rPr>
              <a:t>VÌ</a:t>
            </a:r>
            <a:r>
              <a:rPr sz="4690" b="0" i="0" u="none">
                <a:solidFill>
                  <a:srgbClr val="FFFFFF"/>
                </a:solidFill>
                <a:latin typeface="Anton"/>
              </a:rPr>
              <a:t> SAO HỘI NHẬP KINH TẾ QUỐC TẾ LÀ CẦN THIẾT ĐỐI VỚI CÁC QUỐC GIA?</a:t>
            </a:r>
          </a:p>
        </p:txBody>
      </p:sp>
      <p:sp>
        <p:nvSpPr>
          <p:cNvPr id="6" name="TextBox 7"/>
          <p:cNvSpPr/>
          <p:nvPr/>
        </p:nvSpPr>
        <p:spPr>
          <a:xfrm>
            <a:off x="1833625" y="4088143"/>
            <a:ext cx="6302760" cy="2083324"/>
          </a:xfrm>
          <a:prstGeom prst="rect">
            <a:avLst/>
          </a:prstGeom>
          <a:noFill/>
        </p:spPr>
        <p:txBody>
          <a:bodyPr anchor="t" wrap="square" lIns="0" rIns="0" tIns="0" bIns="0"/>
          <a:lstStyle/>
          <a:p>
            <a:pPr algn="just">
              <a:lnSpc>
                <a:spcPts val="5680"/>
              </a:lnSpc>
            </a:pPr>
            <a:r>
              <a:rPr sz="3341" b="0" i="0" u="none">
                <a:solidFill>
                  <a:srgbClr val="FFFFFF"/>
                </a:solidFill>
                <a:latin typeface="Anton"/>
              </a:rPr>
              <a:t>A. GIÚP CÁC QUỐC GIA TĂNG CƯỜNG HỢP TÁC, MỞ RỘNG THỊ TRƯỜNG VÀ THU HÚT NGUỒN LỰC TỪ BÊN NGOÀI.</a:t>
            </a:r>
          </a:p>
        </p:txBody>
      </p:sp>
      <p:sp>
        <p:nvSpPr>
          <p:cNvPr id="7" name="TextBox 8"/>
          <p:cNvSpPr/>
          <p:nvPr/>
        </p:nvSpPr>
        <p:spPr>
          <a:xfrm>
            <a:off x="8519580" y="4078618"/>
            <a:ext cx="8439594" cy="1378585"/>
          </a:xfrm>
          <a:prstGeom prst="rect">
            <a:avLst/>
          </a:prstGeom>
          <a:noFill/>
        </p:spPr>
        <p:txBody>
          <a:bodyPr anchor="t" wrap="square" lIns="0" rIns="0" tIns="0" bIns="0"/>
          <a:lstStyle/>
          <a:p>
            <a:pPr algn="just">
              <a:lnSpc>
                <a:spcPts val="5677"/>
              </a:lnSpc>
            </a:pPr>
            <a:r>
              <a:rPr sz="3339" b="0" i="0" u="none">
                <a:solidFill>
                  <a:srgbClr val="FFFFFF"/>
                </a:solidFill>
                <a:latin typeface="Anton"/>
              </a:rPr>
              <a:t>B. GIÚP CÁC QUỐC GIA HẠN CHẾ GIAO LƯU KINH TẾ VỚI CÁC NƯỚC KHÁC.</a:t>
            </a:r>
          </a:p>
        </p:txBody>
      </p:sp>
      <p:sp>
        <p:nvSpPr>
          <p:cNvPr id="8" name="TextBox 9"/>
          <p:cNvSpPr/>
          <p:nvPr/>
        </p:nvSpPr>
        <p:spPr>
          <a:xfrm>
            <a:off x="1833625" y="6304817"/>
            <a:ext cx="6302760" cy="1368903"/>
          </a:xfrm>
          <a:prstGeom prst="rect">
            <a:avLst/>
          </a:prstGeom>
          <a:noFill/>
        </p:spPr>
        <p:txBody>
          <a:bodyPr anchor="t" wrap="square" lIns="0" rIns="0" tIns="0" bIns="0"/>
          <a:lstStyle/>
          <a:p>
            <a:pPr algn="just">
              <a:lnSpc>
                <a:spcPts val="5682"/>
              </a:lnSpc>
            </a:pPr>
            <a:r>
              <a:rPr sz="3341" b="0" i="0" u="none">
                <a:solidFill>
                  <a:srgbClr val="FFFFFF"/>
                </a:solidFill>
                <a:latin typeface="Anton"/>
              </a:rPr>
              <a:t>C. GIÚP QUỐC GIA LOẠI BỎ HOÀN TOÀN SỰ CẠNH TRANH TRÊN THỊ TRƯỜNG.</a:t>
            </a:r>
          </a:p>
        </p:txBody>
      </p:sp>
      <p:sp>
        <p:nvSpPr>
          <p:cNvPr id="9" name="TextBox 10"/>
          <p:cNvSpPr/>
          <p:nvPr/>
        </p:nvSpPr>
        <p:spPr>
          <a:xfrm>
            <a:off x="8519580" y="6295292"/>
            <a:ext cx="8439594" cy="1378585"/>
          </a:xfrm>
          <a:prstGeom prst="rect">
            <a:avLst/>
          </a:prstGeom>
          <a:noFill/>
        </p:spPr>
        <p:txBody>
          <a:bodyPr anchor="t" wrap="square" lIns="0" rIns="0" tIns="0" bIns="0"/>
          <a:lstStyle/>
          <a:p>
            <a:pPr algn="just">
              <a:lnSpc>
                <a:spcPts val="5677"/>
              </a:lnSpc>
            </a:pPr>
            <a:r>
              <a:rPr sz="3339" b="0" i="0" u="none">
                <a:solidFill>
                  <a:srgbClr val="FFFFFF"/>
                </a:solidFill>
                <a:latin typeface="Anton"/>
              </a:rPr>
              <a:t>D. GIÚP </a:t>
            </a:r>
            <a:r>
              <a:rPr sz="3339" b="0" i="0" u="none">
                <a:solidFill>
                  <a:srgbClr val="FFFFFF"/>
                </a:solidFill>
                <a:latin typeface="Anton"/>
              </a:rPr>
              <a:t>QUỐC GIA KHÔNG CẦN PHÁT TRIỂN NGUỒN LỰC TRONG NƯỚC.</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 name="Freeform 2"/>
          <p:cNvPicPr>
            <a:picLocks noChangeAspect="0"/>
          </p:cNvPicPr>
          <p:nvPr/>
        </p:nvPicPr>
        <p:blipFill>
          <a:blip r:embed="rIdPic1"/>
          <a:stretch>
            <a:fillRect/>
          </a:stretch>
        </p:blipFill>
        <p:spPr>
          <a:xfrm>
            <a:off x="0" y="0"/>
            <a:ext cx="18288000" cy="10287000"/>
          </a:xfrm>
          <a:prstGeom prst="rect">
            <a:avLst/>
          </a:prstGeom>
        </p:spPr>
      </p:pic>
      <p:sp>
        <p:nvSpPr>
          <p:cNvPr id="3" name="Freeform 4"/>
          <p:cNvSpPr/>
          <p:nvPr/>
        </p:nvSpPr>
        <p:spPr>
          <a:xfrm>
            <a:off x="1028700" y="1028700"/>
            <a:ext cx="16230600" cy="8229600"/>
          </a:xfrm>
          <a:custGeom>
            <a:avLst/>
            <a:gdLst/>
            <a:ahLst/>
            <a:cxnLst/>
            <a:rect l="l" t="t" r="r" b="b"/>
            <a:pathLst>
              <a:path w="3418644" h="1733397">
                <a:moveTo>
                  <a:pt x="24327" y="0"/>
                </a:moveTo>
                <a:lnTo>
                  <a:pt x="3394317" y="0"/>
                </a:lnTo>
                <a:cubicBezTo>
                  <a:pt x="3407752" y="0"/>
                  <a:pt x="3418644" y="10891"/>
                  <a:pt x="3418644" y="24327"/>
                </a:cubicBezTo>
                <a:lnTo>
                  <a:pt x="3418644" y="1709070"/>
                </a:lnTo>
                <a:cubicBezTo>
                  <a:pt x="3418644" y="1722506"/>
                  <a:pt x="3407752" y="1733397"/>
                  <a:pt x="3394317" y="1733397"/>
                </a:cubicBezTo>
                <a:lnTo>
                  <a:pt x="24327" y="1733397"/>
                </a:lnTo>
                <a:cubicBezTo>
                  <a:pt x="10891" y="1733397"/>
                  <a:pt x="0" y="1722506"/>
                  <a:pt x="0" y="1709070"/>
                </a:cubicBezTo>
                <a:lnTo>
                  <a:pt x="0" y="24327"/>
                </a:lnTo>
                <a:cubicBezTo>
                  <a:pt x="0" y="10891"/>
                  <a:pt x="10891" y="0"/>
                  <a:pt x="24327" y="0"/>
                </a:cubicBezTo>
                <a:close/>
              </a:path>
            </a:pathLst>
          </a:custGeom>
          <a:gradFill rotWithShape="1">
            <a:gsLst>
              <a:gs pos="0">
                <a:srgbClr val="193FC4">
                  <a:alpha val="64000"/>
                </a:srgbClr>
              </a:gs>
              <a:gs pos="100000">
                <a:srgbClr val="2787F8">
                  <a:alpha val="64000"/>
                </a:srgbClr>
              </a:gs>
            </a:gsLst>
            <a:lin ang="5400000"/>
          </a:gradFill>
          <a:ln w="12700">
            <a:solidFill>
              <a:srgbClr val="000000"/>
            </a:solidFill>
          </a:ln>
        </p:spPr>
      </p:sp>
      <p:sp>
        <p:nvSpPr>
          <p:cNvPr id="4" name="TextBox 5"/>
          <p:cNvSpPr/>
          <p:nvPr/>
        </p:nvSpPr>
        <p:spPr>
          <a:xfrm>
            <a:off x="1028700" y="847813"/>
            <a:ext cx="16230600" cy="8410487"/>
          </a:xfrm>
          <a:prstGeom prst="rect">
            <a:avLst/>
          </a:prstGeom>
          <a:noFill/>
        </p:spPr>
      </p:sp>
      <p:sp>
        <p:nvSpPr>
          <p:cNvPr id="5" name="TextBox 6"/>
          <p:cNvSpPr/>
          <p:nvPr/>
        </p:nvSpPr>
        <p:spPr>
          <a:xfrm>
            <a:off x="1766950" y="1292301"/>
            <a:ext cx="14754101" cy="1623928"/>
          </a:xfrm>
          <a:prstGeom prst="rect">
            <a:avLst/>
          </a:prstGeom>
          <a:noFill/>
        </p:spPr>
        <p:txBody>
          <a:bodyPr anchor="t" wrap="square" lIns="0" rIns="0" tIns="0" bIns="0"/>
          <a:lstStyle/>
          <a:p>
            <a:pPr algn="just">
              <a:lnSpc>
                <a:spcPts val="6567"/>
              </a:lnSpc>
            </a:pPr>
            <a:r>
              <a:rPr sz="4690" b="0" i="0" u="none">
                <a:solidFill>
                  <a:srgbClr val="FFFFFF"/>
                </a:solidFill>
                <a:latin typeface="Anton"/>
              </a:rPr>
              <a:t>VÌ</a:t>
            </a:r>
            <a:r>
              <a:rPr sz="4690" b="0" i="0" u="none">
                <a:solidFill>
                  <a:srgbClr val="FFFFFF"/>
                </a:solidFill>
                <a:latin typeface="Anton"/>
              </a:rPr>
              <a:t> SAO HỘI NHẬP KINH TẾ QUỐC TẾ LÀ CẦN THIẾT ĐỐI VỚI CÁC QUỐC GIA?</a:t>
            </a:r>
          </a:p>
        </p:txBody>
      </p:sp>
      <p:sp>
        <p:nvSpPr>
          <p:cNvPr id="6" name="TextBox 7"/>
          <p:cNvSpPr/>
          <p:nvPr/>
        </p:nvSpPr>
        <p:spPr>
          <a:xfrm>
            <a:off x="1833625" y="4088143"/>
            <a:ext cx="6302760" cy="2083324"/>
          </a:xfrm>
          <a:prstGeom prst="rect">
            <a:avLst/>
          </a:prstGeom>
          <a:noFill/>
        </p:spPr>
        <p:txBody>
          <a:bodyPr anchor="t" wrap="square" lIns="0" rIns="0" tIns="0" bIns="0"/>
          <a:lstStyle/>
          <a:p>
            <a:pPr algn="just">
              <a:lnSpc>
                <a:spcPts val="5680"/>
              </a:lnSpc>
            </a:pPr>
            <a:r>
              <a:rPr sz="3341" b="0" i="0" u="none">
                <a:solidFill>
                  <a:srgbClr val="FFD100"/>
                </a:solidFill>
                <a:latin typeface="Anton"/>
              </a:rPr>
              <a:t>A. GIÚP CÁC QUỐC GIA TĂNG CƯỜNG HỢP TÁC, MỞ RỘNG THỊ TRƯỜNG VÀ THU HÚT NGUỒN LỰC TỪ BÊN NGOÀI.</a:t>
            </a:r>
          </a:p>
        </p:txBody>
      </p:sp>
      <p:sp>
        <p:nvSpPr>
          <p:cNvPr id="7" name="TextBox 8"/>
          <p:cNvSpPr/>
          <p:nvPr/>
        </p:nvSpPr>
        <p:spPr>
          <a:xfrm>
            <a:off x="8519580" y="4078618"/>
            <a:ext cx="8439594" cy="1378585"/>
          </a:xfrm>
          <a:prstGeom prst="rect">
            <a:avLst/>
          </a:prstGeom>
          <a:noFill/>
        </p:spPr>
        <p:txBody>
          <a:bodyPr anchor="t" wrap="square" lIns="0" rIns="0" tIns="0" bIns="0"/>
          <a:lstStyle/>
          <a:p>
            <a:pPr algn="just">
              <a:lnSpc>
                <a:spcPts val="5677"/>
              </a:lnSpc>
            </a:pPr>
            <a:r>
              <a:rPr sz="3339" b="0" i="0" u="none">
                <a:solidFill>
                  <a:srgbClr val="FFFFFF"/>
                </a:solidFill>
                <a:latin typeface="Anton"/>
              </a:rPr>
              <a:t>B. GIÚP CÁC QUỐC GIA HẠN CHẾ GIAO LƯU KINH TẾ VỚI CÁC NƯỚC KHÁC.</a:t>
            </a:r>
          </a:p>
        </p:txBody>
      </p:sp>
      <p:sp>
        <p:nvSpPr>
          <p:cNvPr id="8" name="TextBox 9"/>
          <p:cNvSpPr/>
          <p:nvPr/>
        </p:nvSpPr>
        <p:spPr>
          <a:xfrm>
            <a:off x="1833625" y="6304817"/>
            <a:ext cx="6302760" cy="1368903"/>
          </a:xfrm>
          <a:prstGeom prst="rect">
            <a:avLst/>
          </a:prstGeom>
          <a:noFill/>
        </p:spPr>
        <p:txBody>
          <a:bodyPr anchor="t" wrap="square" lIns="0" rIns="0" tIns="0" bIns="0"/>
          <a:lstStyle/>
          <a:p>
            <a:pPr algn="just">
              <a:lnSpc>
                <a:spcPts val="5682"/>
              </a:lnSpc>
            </a:pPr>
            <a:r>
              <a:rPr sz="3341" b="0" i="0" u="none">
                <a:solidFill>
                  <a:srgbClr val="FFFFFF"/>
                </a:solidFill>
                <a:latin typeface="Anton"/>
              </a:rPr>
              <a:t>C. GIÚP QUỐC GIA LOẠI BỎ HOÀN TOÀN SỰ CẠNH TRANH TRÊN THỊ TRƯỜNG.</a:t>
            </a:r>
          </a:p>
        </p:txBody>
      </p:sp>
      <p:sp>
        <p:nvSpPr>
          <p:cNvPr id="9" name="TextBox 10"/>
          <p:cNvSpPr/>
          <p:nvPr/>
        </p:nvSpPr>
        <p:spPr>
          <a:xfrm>
            <a:off x="8519580" y="6295292"/>
            <a:ext cx="8439594" cy="1378585"/>
          </a:xfrm>
          <a:prstGeom prst="rect">
            <a:avLst/>
          </a:prstGeom>
          <a:noFill/>
        </p:spPr>
        <p:txBody>
          <a:bodyPr anchor="t" wrap="square" lIns="0" rIns="0" tIns="0" bIns="0"/>
          <a:lstStyle/>
          <a:p>
            <a:pPr algn="just">
              <a:lnSpc>
                <a:spcPts val="5677"/>
              </a:lnSpc>
            </a:pPr>
            <a:r>
              <a:rPr sz="3339" b="0" i="0" u="none">
                <a:solidFill>
                  <a:srgbClr val="FFFFFF"/>
                </a:solidFill>
                <a:latin typeface="Anton"/>
              </a:rPr>
              <a:t>D. GIÚP </a:t>
            </a:r>
            <a:r>
              <a:rPr sz="3339" b="0" i="0" u="none">
                <a:solidFill>
                  <a:srgbClr val="FFFFFF"/>
                </a:solidFill>
                <a:latin typeface="Anton"/>
              </a:rPr>
              <a:t>QUỐC GIA KHÔNG CẦN PHÁT TRIỂN NGUỒN LỰC TRONG NƯỚC.</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 name="Freeform 2"/>
          <p:cNvPicPr>
            <a:picLocks noChangeAspect="0"/>
          </p:cNvPicPr>
          <p:nvPr/>
        </p:nvPicPr>
        <p:blipFill>
          <a:blip r:embed="rIdPic1"/>
          <a:stretch>
            <a:fillRect/>
          </a:stretch>
        </p:blipFill>
        <p:spPr>
          <a:xfrm>
            <a:off x="0" y="0"/>
            <a:ext cx="18288000" cy="10287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 name="Freeform 2"/>
          <p:cNvPicPr>
            <a:picLocks noChangeAspect="0"/>
          </p:cNvPicPr>
          <p:nvPr/>
        </p:nvPicPr>
        <p:blipFill>
          <a:blip r:embed="rIdPic1"/>
          <a:stretch>
            <a:fillRect/>
          </a:stretch>
        </p:blipFill>
        <p:spPr>
          <a:xfrm>
            <a:off x="0" y="0"/>
            <a:ext cx="18288000" cy="10287000"/>
          </a:xfrm>
          <a:prstGeom prst="rect">
            <a:avLst/>
          </a:prstGeom>
        </p:spPr>
      </p:pic>
      <p:sp>
        <p:nvSpPr>
          <p:cNvPr id="3" name="Freeform 4"/>
          <p:cNvSpPr/>
          <p:nvPr/>
        </p:nvSpPr>
        <p:spPr>
          <a:xfrm>
            <a:off x="1028700" y="1028700"/>
            <a:ext cx="16230600" cy="8229600"/>
          </a:xfrm>
          <a:custGeom>
            <a:avLst/>
            <a:gdLst/>
            <a:ahLst/>
            <a:cxnLst/>
            <a:rect l="l" t="t" r="r" b="b"/>
            <a:pathLst>
              <a:path w="3418644" h="1733397">
                <a:moveTo>
                  <a:pt x="24327" y="0"/>
                </a:moveTo>
                <a:lnTo>
                  <a:pt x="3394317" y="0"/>
                </a:lnTo>
                <a:cubicBezTo>
                  <a:pt x="3407752" y="0"/>
                  <a:pt x="3418644" y="10891"/>
                  <a:pt x="3418644" y="24327"/>
                </a:cubicBezTo>
                <a:lnTo>
                  <a:pt x="3418644" y="1709070"/>
                </a:lnTo>
                <a:cubicBezTo>
                  <a:pt x="3418644" y="1722506"/>
                  <a:pt x="3407752" y="1733397"/>
                  <a:pt x="3394317" y="1733397"/>
                </a:cubicBezTo>
                <a:lnTo>
                  <a:pt x="24327" y="1733397"/>
                </a:lnTo>
                <a:cubicBezTo>
                  <a:pt x="10891" y="1733397"/>
                  <a:pt x="0" y="1722506"/>
                  <a:pt x="0" y="1709070"/>
                </a:cubicBezTo>
                <a:lnTo>
                  <a:pt x="0" y="24327"/>
                </a:lnTo>
                <a:cubicBezTo>
                  <a:pt x="0" y="10891"/>
                  <a:pt x="10891" y="0"/>
                  <a:pt x="24327" y="0"/>
                </a:cubicBezTo>
                <a:close/>
              </a:path>
            </a:pathLst>
          </a:custGeom>
          <a:gradFill rotWithShape="1">
            <a:gsLst>
              <a:gs pos="0">
                <a:srgbClr val="193FC4">
                  <a:alpha val="64000"/>
                </a:srgbClr>
              </a:gs>
              <a:gs pos="100000">
                <a:srgbClr val="2787F8">
                  <a:alpha val="64000"/>
                </a:srgbClr>
              </a:gs>
            </a:gsLst>
            <a:lin ang="5400000"/>
          </a:gradFill>
          <a:ln w="12700">
            <a:solidFill>
              <a:srgbClr val="000000"/>
            </a:solidFill>
          </a:ln>
        </p:spPr>
      </p:sp>
      <p:sp>
        <p:nvSpPr>
          <p:cNvPr id="4" name="TextBox 5"/>
          <p:cNvSpPr/>
          <p:nvPr/>
        </p:nvSpPr>
        <p:spPr>
          <a:xfrm>
            <a:off x="1028700" y="847813"/>
            <a:ext cx="16230600" cy="8410487"/>
          </a:xfrm>
          <a:prstGeom prst="rect">
            <a:avLst/>
          </a:prstGeom>
          <a:noFill/>
        </p:spPr>
      </p:sp>
      <p:sp>
        <p:nvSpPr>
          <p:cNvPr id="5" name="TextBox 6"/>
          <p:cNvSpPr/>
          <p:nvPr/>
        </p:nvSpPr>
        <p:spPr>
          <a:xfrm>
            <a:off x="1766950" y="1292301"/>
            <a:ext cx="14754101" cy="1623928"/>
          </a:xfrm>
          <a:prstGeom prst="rect">
            <a:avLst/>
          </a:prstGeom>
          <a:noFill/>
        </p:spPr>
        <p:txBody>
          <a:bodyPr anchor="t" wrap="square" lIns="0" rIns="0" tIns="0" bIns="0"/>
          <a:lstStyle/>
          <a:p>
            <a:pPr algn="just">
              <a:lnSpc>
                <a:spcPts val="6567"/>
              </a:lnSpc>
            </a:pPr>
            <a:r>
              <a:rPr sz="4690" b="0" i="0" u="none">
                <a:solidFill>
                  <a:srgbClr val="FFFFFF"/>
                </a:solidFill>
                <a:latin typeface="Anton"/>
              </a:rPr>
              <a:t>H</a:t>
            </a:r>
            <a:r>
              <a:rPr sz="4690" b="0" i="0" u="none">
                <a:solidFill>
                  <a:srgbClr val="FFFFFF"/>
                </a:solidFill>
                <a:latin typeface="Anton"/>
              </a:rPr>
              <a:t>ỘI NHẬP KINH TẾ QUỐC TẾ CÓ Ý NGHĨA NHƯ THẾ NÀO ĐỐI VỚI QUÁ TRÌNH PHÁT TRIỂN KINH TẾ CỦA MỖI QUỐC GIA?</a:t>
            </a:r>
          </a:p>
        </p:txBody>
      </p:sp>
      <p:sp>
        <p:nvSpPr>
          <p:cNvPr id="6" name="TextBox 7"/>
          <p:cNvSpPr/>
          <p:nvPr/>
        </p:nvSpPr>
        <p:spPr>
          <a:xfrm>
            <a:off x="1833625" y="4088143"/>
            <a:ext cx="6302760" cy="1368949"/>
          </a:xfrm>
          <a:prstGeom prst="rect">
            <a:avLst/>
          </a:prstGeom>
          <a:noFill/>
        </p:spPr>
        <p:txBody>
          <a:bodyPr anchor="t" wrap="square" lIns="0" rIns="0" tIns="0" bIns="0"/>
          <a:lstStyle/>
          <a:p>
            <a:pPr algn="just">
              <a:lnSpc>
                <a:spcPts val="5680"/>
              </a:lnSpc>
            </a:pPr>
            <a:r>
              <a:rPr sz="3341" b="0" i="0" u="none">
                <a:solidFill>
                  <a:srgbClr val="FFFFFF"/>
                </a:solidFill>
                <a:latin typeface="Anton"/>
              </a:rPr>
              <a:t>A. LÀM CHO NỀN KINH TẾ TÁCH BIỆT VỚI NỀN KINH TẾ THẾ GIỚI.</a:t>
            </a:r>
          </a:p>
        </p:txBody>
      </p:sp>
      <p:sp>
        <p:nvSpPr>
          <p:cNvPr id="7" name="TextBox 8"/>
          <p:cNvSpPr/>
          <p:nvPr/>
        </p:nvSpPr>
        <p:spPr>
          <a:xfrm>
            <a:off x="8519580" y="4078618"/>
            <a:ext cx="8439594" cy="1378585"/>
          </a:xfrm>
          <a:prstGeom prst="rect">
            <a:avLst/>
          </a:prstGeom>
          <a:noFill/>
        </p:spPr>
        <p:txBody>
          <a:bodyPr anchor="t" wrap="square" lIns="0" rIns="0" tIns="0" bIns="0"/>
          <a:lstStyle/>
          <a:p>
            <a:pPr algn="just">
              <a:lnSpc>
                <a:spcPts val="5677"/>
              </a:lnSpc>
            </a:pPr>
            <a:r>
              <a:rPr sz="3339" b="0" i="0" u="none">
                <a:solidFill>
                  <a:srgbClr val="FFFFFF"/>
                </a:solidFill>
                <a:latin typeface="Anton"/>
              </a:rPr>
              <a:t>B. CHỈ MANG LẠI LỢI ÍCH CHO CÁC DOANH NGHIỆP NƯỚC NGOÀI.</a:t>
            </a:r>
          </a:p>
        </p:txBody>
      </p:sp>
      <p:sp>
        <p:nvSpPr>
          <p:cNvPr id="8" name="TextBox 9"/>
          <p:cNvSpPr/>
          <p:nvPr/>
        </p:nvSpPr>
        <p:spPr>
          <a:xfrm>
            <a:off x="1833625" y="6304817"/>
            <a:ext cx="6302760" cy="1368903"/>
          </a:xfrm>
          <a:prstGeom prst="rect">
            <a:avLst/>
          </a:prstGeom>
          <a:noFill/>
        </p:spPr>
        <p:txBody>
          <a:bodyPr anchor="t" wrap="square" lIns="0" rIns="0" tIns="0" bIns="0"/>
          <a:lstStyle/>
          <a:p>
            <a:pPr algn="just">
              <a:lnSpc>
                <a:spcPts val="5682"/>
              </a:lnSpc>
            </a:pPr>
            <a:r>
              <a:rPr sz="3341" b="0" i="0" u="none">
                <a:solidFill>
                  <a:srgbClr val="FFFFFF"/>
                </a:solidFill>
                <a:latin typeface="Anton"/>
              </a:rPr>
              <a:t>C. LÀM GIẢM CƠ HỘI HỢP TÁC VÀ ĐẦU TƯ QUỐC TẾ.</a:t>
            </a:r>
          </a:p>
        </p:txBody>
      </p:sp>
      <p:sp>
        <p:nvSpPr>
          <p:cNvPr id="9" name="TextBox 10"/>
          <p:cNvSpPr/>
          <p:nvPr/>
        </p:nvSpPr>
        <p:spPr>
          <a:xfrm>
            <a:off x="8519580" y="6295292"/>
            <a:ext cx="8439594" cy="1378585"/>
          </a:xfrm>
          <a:prstGeom prst="rect">
            <a:avLst/>
          </a:prstGeom>
          <a:noFill/>
        </p:spPr>
        <p:txBody>
          <a:bodyPr anchor="t" wrap="square" lIns="0" rIns="0" tIns="0" bIns="0"/>
          <a:lstStyle/>
          <a:p>
            <a:pPr algn="just">
              <a:lnSpc>
                <a:spcPts val="5677"/>
              </a:lnSpc>
            </a:pPr>
            <a:r>
              <a:rPr sz="3339" b="0" i="0" u="none">
                <a:solidFill>
                  <a:srgbClr val="FFFFFF"/>
                </a:solidFill>
                <a:latin typeface="Anton"/>
              </a:rPr>
              <a:t>D. TẠO ĐIỀU KIỆN T</a:t>
            </a:r>
            <a:r>
              <a:rPr sz="3339" b="0" i="0" u="none">
                <a:solidFill>
                  <a:srgbClr val="FFFFFF"/>
                </a:solidFill>
                <a:latin typeface="Anton"/>
              </a:rPr>
              <a:t>IẾP CẬN THỊ TRƯỜNG, VỐN, CÔNG NGHỆ VÀ KINH NGHIỆM QUẢN LÍ TỪ BÊN NGOÀI.</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 name="Freeform 2"/>
          <p:cNvPicPr>
            <a:picLocks noChangeAspect="0"/>
          </p:cNvPicPr>
          <p:nvPr/>
        </p:nvPicPr>
        <p:blipFill>
          <a:blip r:embed="rIdPic1"/>
          <a:stretch>
            <a:fillRect/>
          </a:stretch>
        </p:blipFill>
        <p:spPr>
          <a:xfrm>
            <a:off x="0" y="0"/>
            <a:ext cx="18288000" cy="10287000"/>
          </a:xfrm>
          <a:prstGeom prst="rect">
            <a:avLst/>
          </a:prstGeom>
        </p:spPr>
      </p:pic>
      <p:sp>
        <p:nvSpPr>
          <p:cNvPr id="3" name="Freeform 4"/>
          <p:cNvSpPr/>
          <p:nvPr/>
        </p:nvSpPr>
        <p:spPr>
          <a:xfrm>
            <a:off x="1028700" y="1028700"/>
            <a:ext cx="16230600" cy="8229600"/>
          </a:xfrm>
          <a:custGeom>
            <a:avLst/>
            <a:gdLst/>
            <a:ahLst/>
            <a:cxnLst/>
            <a:rect l="l" t="t" r="r" b="b"/>
            <a:pathLst>
              <a:path w="3418644" h="1733397">
                <a:moveTo>
                  <a:pt x="24327" y="0"/>
                </a:moveTo>
                <a:lnTo>
                  <a:pt x="3394317" y="0"/>
                </a:lnTo>
                <a:cubicBezTo>
                  <a:pt x="3407752" y="0"/>
                  <a:pt x="3418644" y="10891"/>
                  <a:pt x="3418644" y="24327"/>
                </a:cubicBezTo>
                <a:lnTo>
                  <a:pt x="3418644" y="1709070"/>
                </a:lnTo>
                <a:cubicBezTo>
                  <a:pt x="3418644" y="1722506"/>
                  <a:pt x="3407752" y="1733397"/>
                  <a:pt x="3394317" y="1733397"/>
                </a:cubicBezTo>
                <a:lnTo>
                  <a:pt x="24327" y="1733397"/>
                </a:lnTo>
                <a:cubicBezTo>
                  <a:pt x="10891" y="1733397"/>
                  <a:pt x="0" y="1722506"/>
                  <a:pt x="0" y="1709070"/>
                </a:cubicBezTo>
                <a:lnTo>
                  <a:pt x="0" y="24327"/>
                </a:lnTo>
                <a:cubicBezTo>
                  <a:pt x="0" y="10891"/>
                  <a:pt x="10891" y="0"/>
                  <a:pt x="24327" y="0"/>
                </a:cubicBezTo>
                <a:close/>
              </a:path>
            </a:pathLst>
          </a:custGeom>
          <a:gradFill rotWithShape="1">
            <a:gsLst>
              <a:gs pos="0">
                <a:srgbClr val="193FC4">
                  <a:alpha val="64000"/>
                </a:srgbClr>
              </a:gs>
              <a:gs pos="100000">
                <a:srgbClr val="2787F8">
                  <a:alpha val="64000"/>
                </a:srgbClr>
              </a:gs>
            </a:gsLst>
            <a:lin ang="5400000"/>
          </a:gradFill>
          <a:ln w="12700">
            <a:solidFill>
              <a:srgbClr val="000000"/>
            </a:solidFill>
          </a:ln>
        </p:spPr>
      </p:sp>
      <p:sp>
        <p:nvSpPr>
          <p:cNvPr id="4" name="TextBox 5"/>
          <p:cNvSpPr/>
          <p:nvPr/>
        </p:nvSpPr>
        <p:spPr>
          <a:xfrm>
            <a:off x="1028700" y="847813"/>
            <a:ext cx="16230600" cy="8410487"/>
          </a:xfrm>
          <a:prstGeom prst="rect">
            <a:avLst/>
          </a:prstGeom>
          <a:noFill/>
        </p:spPr>
      </p:sp>
      <p:sp>
        <p:nvSpPr>
          <p:cNvPr id="5" name="TextBox 6"/>
          <p:cNvSpPr/>
          <p:nvPr/>
        </p:nvSpPr>
        <p:spPr>
          <a:xfrm>
            <a:off x="1766950" y="1292301"/>
            <a:ext cx="14754101" cy="1623928"/>
          </a:xfrm>
          <a:prstGeom prst="rect">
            <a:avLst/>
          </a:prstGeom>
          <a:noFill/>
        </p:spPr>
        <p:txBody>
          <a:bodyPr anchor="t" wrap="square" lIns="0" rIns="0" tIns="0" bIns="0"/>
          <a:lstStyle/>
          <a:p>
            <a:pPr algn="just">
              <a:lnSpc>
                <a:spcPts val="6567"/>
              </a:lnSpc>
            </a:pPr>
            <a:r>
              <a:rPr sz="4690" b="0" i="0" u="none">
                <a:solidFill>
                  <a:srgbClr val="FFFFFF"/>
                </a:solidFill>
                <a:latin typeface="Anton"/>
              </a:rPr>
              <a:t>H</a:t>
            </a:r>
            <a:r>
              <a:rPr sz="4690" b="0" i="0" u="none">
                <a:solidFill>
                  <a:srgbClr val="FFFFFF"/>
                </a:solidFill>
                <a:latin typeface="Anton"/>
              </a:rPr>
              <a:t>ỘI NHẬP KINH TẾ QUỐC TẾ CÓ Ý NGHĨA NHƯ THẾ NÀO ĐỐI VỚI QUÁ TRÌNH PHÁT TRIỂN KINH TẾ CỦA MỖI QUỐC GIA?</a:t>
            </a:r>
          </a:p>
        </p:txBody>
      </p:sp>
      <p:sp>
        <p:nvSpPr>
          <p:cNvPr id="6" name="TextBox 7"/>
          <p:cNvSpPr/>
          <p:nvPr/>
        </p:nvSpPr>
        <p:spPr>
          <a:xfrm>
            <a:off x="1833625" y="4088143"/>
            <a:ext cx="6302760" cy="1368949"/>
          </a:xfrm>
          <a:prstGeom prst="rect">
            <a:avLst/>
          </a:prstGeom>
          <a:noFill/>
        </p:spPr>
        <p:txBody>
          <a:bodyPr anchor="t" wrap="square" lIns="0" rIns="0" tIns="0" bIns="0"/>
          <a:lstStyle/>
          <a:p>
            <a:pPr algn="just">
              <a:lnSpc>
                <a:spcPts val="5680"/>
              </a:lnSpc>
            </a:pPr>
            <a:r>
              <a:rPr sz="3341" b="0" i="0" u="none">
                <a:solidFill>
                  <a:srgbClr val="FFFFFF"/>
                </a:solidFill>
                <a:latin typeface="Anton"/>
              </a:rPr>
              <a:t>A. LÀM CHO NỀN KINH TẾ TÁCH BIỆT VỚI NỀN KINH TẾ THẾ GIỚI.</a:t>
            </a:r>
          </a:p>
        </p:txBody>
      </p:sp>
      <p:sp>
        <p:nvSpPr>
          <p:cNvPr id="7" name="TextBox 8"/>
          <p:cNvSpPr/>
          <p:nvPr/>
        </p:nvSpPr>
        <p:spPr>
          <a:xfrm>
            <a:off x="8519580" y="4078618"/>
            <a:ext cx="8439594" cy="1378585"/>
          </a:xfrm>
          <a:prstGeom prst="rect">
            <a:avLst/>
          </a:prstGeom>
          <a:noFill/>
        </p:spPr>
        <p:txBody>
          <a:bodyPr anchor="t" wrap="square" lIns="0" rIns="0" tIns="0" bIns="0"/>
          <a:lstStyle/>
          <a:p>
            <a:pPr algn="just">
              <a:lnSpc>
                <a:spcPts val="5677"/>
              </a:lnSpc>
            </a:pPr>
            <a:r>
              <a:rPr sz="3339" b="0" i="0" u="none">
                <a:solidFill>
                  <a:srgbClr val="FFFFFF"/>
                </a:solidFill>
                <a:latin typeface="Anton"/>
              </a:rPr>
              <a:t>B. CHỈ MANG LẠI LỢI ÍCH CHO CÁC DOANH NGHIỆP NƯỚC NGOÀI.</a:t>
            </a:r>
          </a:p>
        </p:txBody>
      </p:sp>
      <p:sp>
        <p:nvSpPr>
          <p:cNvPr id="8" name="TextBox 9"/>
          <p:cNvSpPr/>
          <p:nvPr/>
        </p:nvSpPr>
        <p:spPr>
          <a:xfrm>
            <a:off x="1833625" y="6304817"/>
            <a:ext cx="6302760" cy="1368903"/>
          </a:xfrm>
          <a:prstGeom prst="rect">
            <a:avLst/>
          </a:prstGeom>
          <a:noFill/>
        </p:spPr>
        <p:txBody>
          <a:bodyPr anchor="t" wrap="square" lIns="0" rIns="0" tIns="0" bIns="0"/>
          <a:lstStyle/>
          <a:p>
            <a:pPr algn="just">
              <a:lnSpc>
                <a:spcPts val="5682"/>
              </a:lnSpc>
            </a:pPr>
            <a:r>
              <a:rPr sz="3341" b="0" i="0" u="none">
                <a:solidFill>
                  <a:srgbClr val="FFFFFF"/>
                </a:solidFill>
                <a:latin typeface="Anton"/>
              </a:rPr>
              <a:t>C. LÀM GIẢM CƠ HỘI HỢP TÁC VÀ ĐẦU TƯ QUỐC TẾ.</a:t>
            </a:r>
          </a:p>
        </p:txBody>
      </p:sp>
      <p:sp>
        <p:nvSpPr>
          <p:cNvPr id="9" name="TextBox 10"/>
          <p:cNvSpPr/>
          <p:nvPr/>
        </p:nvSpPr>
        <p:spPr>
          <a:xfrm>
            <a:off x="8519580" y="6295292"/>
            <a:ext cx="8439594" cy="1378585"/>
          </a:xfrm>
          <a:prstGeom prst="rect">
            <a:avLst/>
          </a:prstGeom>
          <a:noFill/>
        </p:spPr>
        <p:txBody>
          <a:bodyPr anchor="t" wrap="square" lIns="0" rIns="0" tIns="0" bIns="0"/>
          <a:lstStyle/>
          <a:p>
            <a:pPr algn="just">
              <a:lnSpc>
                <a:spcPts val="5677"/>
              </a:lnSpc>
            </a:pPr>
            <a:r>
              <a:rPr sz="3339" b="0" i="0" u="none">
                <a:solidFill>
                  <a:srgbClr val="FFD100"/>
                </a:solidFill>
                <a:latin typeface="Anton"/>
              </a:rPr>
              <a:t>D. TẠO ĐIỀU KIỆN TIẾP CẬN THỊ TRƯỜNG, VỐN, CÔNG NGHỆ VÀ KINH NGHIỆM QUẢN LÍ TỪ BÊN NGOÀI.</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 name="Freeform 2"/>
          <p:cNvPicPr>
            <a:picLocks noChangeAspect="0"/>
          </p:cNvPicPr>
          <p:nvPr/>
        </p:nvPicPr>
        <p:blipFill>
          <a:blip r:embed="rIdPic1"/>
          <a:stretch>
            <a:fillRect/>
          </a:stretch>
        </p:blipFill>
        <p:spPr>
          <a:xfrm>
            <a:off x="0" y="0"/>
            <a:ext cx="18288000" cy="1029843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Danh</dc:creator>
  <cp:lastModifiedBy>Danh</cp:lastModifiedBy>
  <cp:revision>1</cp:revision>
  <dcterms:created xsi:type="dcterms:W3CDTF">2026-08-27T12:46:21Z</dcterms:created>
  <dcterms:modified xsi:type="dcterms:W3CDTF">2026-08-27T12:46:21Z</dcterms:modified>
</cp:coreProperties>
</file>